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1.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73" r:id="rId13"/>
    <p:sldId id="268" r:id="rId14"/>
    <p:sldId id="270" r:id="rId15"/>
    <p:sldId id="272"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10"/>
  </p:normalViewPr>
  <p:slideViewPr>
    <p:cSldViewPr snapToGrid="0" snapToObjects="1">
      <p:cViewPr varScale="1">
        <p:scale>
          <a:sx n="84" d="100"/>
          <a:sy n="84" d="100"/>
        </p:scale>
        <p:origin x="804" y="5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E293B"/>
                </a:solidFill>
                <a:latin typeface="Arial"/>
              </a:defRPr>
            </a:pPr>
            <a:r>
              <a:rPr lang="en-US" sz="1300" b="0" i="0" u="none" strike="noStrike">
                <a:solidFill>
                  <a:srgbClr val="1E293B"/>
                </a:solidFill>
                <a:latin typeface="Arial"/>
              </a:rPr>
              <a:t>ASR Ecosystem Maturity (Relative)</a:t>
            </a:r>
          </a:p>
        </c:rich>
      </c:tx>
      <c:overlay val="0"/>
    </c:title>
    <c:autoTitleDeleted val="0"/>
    <c:plotArea>
      <c:layout/>
      <c:barChart>
        <c:barDir val="bar"/>
        <c:grouping val="clustered"/>
        <c:varyColors val="0"/>
        <c:ser>
          <c:idx val="0"/>
          <c:order val="0"/>
          <c:tx>
            <c:strRef>
              <c:f>Sheet1!$B$1</c:f>
              <c:strCache>
                <c:ptCount val="1"/>
                <c:pt idx="0">
                  <c:v>Resources (relative scale)</c:v>
                </c:pt>
              </c:strCache>
            </c:strRef>
          </c:tx>
          <c:spPr>
            <a:solidFill>
              <a:srgbClr val="1565C0"/>
            </a:solidFill>
            <a:effectLst/>
          </c:spPr>
          <c:invertIfNegative val="0"/>
          <c:dPt>
            <c:idx val="0"/>
            <c:invertIfNegative val="0"/>
            <c:bubble3D val="0"/>
            <c:extLst>
              <c:ext xmlns:c16="http://schemas.microsoft.com/office/drawing/2014/chart" uri="{C3380CC4-5D6E-409C-BE32-E72D297353CC}">
                <c16:uniqueId val="{00000001-97F7-404D-A43F-63DFA6129B4D}"/>
              </c:ext>
            </c:extLst>
          </c:dPt>
          <c:dPt>
            <c:idx val="1"/>
            <c:invertIfNegative val="0"/>
            <c:bubble3D val="0"/>
            <c:extLst>
              <c:ext xmlns:c16="http://schemas.microsoft.com/office/drawing/2014/chart" uri="{C3380CC4-5D6E-409C-BE32-E72D297353CC}">
                <c16:uniqueId val="{00000003-97F7-404D-A43F-63DFA6129B4D}"/>
              </c:ext>
            </c:extLst>
          </c:dPt>
          <c:dPt>
            <c:idx val="2"/>
            <c:invertIfNegative val="0"/>
            <c:bubble3D val="0"/>
            <c:extLst>
              <c:ext xmlns:c16="http://schemas.microsoft.com/office/drawing/2014/chart" uri="{C3380CC4-5D6E-409C-BE32-E72D297353CC}">
                <c16:uniqueId val="{00000005-97F7-404D-A43F-63DFA6129B4D}"/>
              </c:ext>
            </c:extLst>
          </c:dPt>
          <c:dPt>
            <c:idx val="3"/>
            <c:invertIfNegative val="0"/>
            <c:bubble3D val="0"/>
            <c:extLst>
              <c:ext xmlns:c16="http://schemas.microsoft.com/office/drawing/2014/chart" uri="{C3380CC4-5D6E-409C-BE32-E72D297353CC}">
                <c16:uniqueId val="{00000007-97F7-404D-A43F-63DFA6129B4D}"/>
              </c:ext>
            </c:extLst>
          </c:dPt>
          <c:dPt>
            <c:idx val="4"/>
            <c:invertIfNegative val="0"/>
            <c:bubble3D val="0"/>
            <c:spPr>
              <a:solidFill>
                <a:srgbClr val="E53935"/>
              </a:solidFill>
              <a:effectLst/>
            </c:spPr>
            <c:extLst>
              <c:ext xmlns:c16="http://schemas.microsoft.com/office/drawing/2014/chart" uri="{C3380CC4-5D6E-409C-BE32-E72D297353CC}">
                <c16:uniqueId val="{00000009-97F7-404D-A43F-63DFA6129B4D}"/>
              </c:ext>
            </c:extLst>
          </c:dPt>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English</c:v>
                </c:pt>
                <c:pt idx="1">
                  <c:v>Mandarin</c:v>
                </c:pt>
                <c:pt idx="2">
                  <c:v>French</c:v>
                </c:pt>
                <c:pt idx="3">
                  <c:v>Arabic</c:v>
                </c:pt>
                <c:pt idx="4">
                  <c:v>Tigrinya</c:v>
                </c:pt>
              </c:strCache>
            </c:strRef>
          </c:cat>
          <c:val>
            <c:numRef>
              <c:f>Sheet1!$B$2:$B$6</c:f>
              <c:numCache>
                <c:formatCode>General</c:formatCode>
                <c:ptCount val="5"/>
                <c:pt idx="0">
                  <c:v>95</c:v>
                </c:pt>
                <c:pt idx="1">
                  <c:v>83</c:v>
                </c:pt>
                <c:pt idx="2">
                  <c:v>72</c:v>
                </c:pt>
                <c:pt idx="3">
                  <c:v>42</c:v>
                </c:pt>
                <c:pt idx="4">
                  <c:v>17</c:v>
                </c:pt>
              </c:numCache>
            </c:numRef>
          </c:val>
          <c:extLst>
            <c:ext xmlns:c16="http://schemas.microsoft.com/office/drawing/2014/chart" uri="{C3380CC4-5D6E-409C-BE32-E72D297353CC}">
              <c16:uniqueId val="{0000000A-97F7-404D-A43F-63DFA6129B4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D0D5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899A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0F4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93B"/>
                </a:solidFill>
                <a:latin typeface="Arial"/>
              </a:defRPr>
            </a:pPr>
            <a:r>
              <a:rPr lang="en-US" sz="1200" b="0" i="0" u="none" strike="noStrike">
                <a:solidFill>
                  <a:srgbClr val="1E293B"/>
                </a:solidFill>
                <a:latin typeface="Arial"/>
              </a:rPr>
              <a:t>WER by Condition (lower = better)</a:t>
            </a:r>
          </a:p>
        </c:rich>
      </c:tx>
      <c:overlay val="0"/>
    </c:title>
    <c:autoTitleDeleted val="0"/>
    <c:plotArea>
      <c:layout/>
      <c:barChart>
        <c:barDir val="col"/>
        <c:grouping val="clustered"/>
        <c:varyColors val="0"/>
        <c:ser>
          <c:idx val="0"/>
          <c:order val="0"/>
          <c:tx>
            <c:strRef>
              <c:f>Sheet1!$B$1</c:f>
              <c:strCache>
                <c:ptCount val="1"/>
                <c:pt idx="0">
                  <c:v>MMS</c:v>
                </c:pt>
              </c:strCache>
            </c:strRef>
          </c:tx>
          <c:spPr>
            <a:solidFill>
              <a:srgbClr val="1565C0"/>
            </a:solidFill>
            <a:effectLst/>
          </c:spPr>
          <c:invertIfNegative val="0"/>
          <c:cat>
            <c:strRef>
              <c:f>Sheet1!$A$2:$A$6</c:f>
              <c:strCache>
                <c:ptCount val="5"/>
                <c:pt idx="0">
                  <c:v>Clean</c:v>
                </c:pt>
                <c:pt idx="1">
                  <c:v>Mod. Noise</c:v>
                </c:pt>
                <c:pt idx="2">
                  <c:v>High Noise</c:v>
                </c:pt>
                <c:pt idx="3">
                  <c:v>Central Tigray</c:v>
                </c:pt>
                <c:pt idx="4">
                  <c:v>Raya</c:v>
                </c:pt>
              </c:strCache>
            </c:strRef>
          </c:cat>
          <c:val>
            <c:numRef>
              <c:f>Sheet1!$B$2:$B$6</c:f>
              <c:numCache>
                <c:formatCode>General</c:formatCode>
                <c:ptCount val="5"/>
                <c:pt idx="0">
                  <c:v>0.44</c:v>
                </c:pt>
                <c:pt idx="1">
                  <c:v>0.78</c:v>
                </c:pt>
                <c:pt idx="2">
                  <c:v>0.97</c:v>
                </c:pt>
                <c:pt idx="3">
                  <c:v>0.43</c:v>
                </c:pt>
                <c:pt idx="4">
                  <c:v>0.91</c:v>
                </c:pt>
              </c:numCache>
            </c:numRef>
          </c:val>
          <c:extLst>
            <c:ext xmlns:c16="http://schemas.microsoft.com/office/drawing/2014/chart" uri="{C3380CC4-5D6E-409C-BE32-E72D297353CC}">
              <c16:uniqueId val="{00000000-6A37-4167-8A04-9202D0F86237}"/>
            </c:ext>
          </c:extLst>
        </c:ser>
        <c:ser>
          <c:idx val="1"/>
          <c:order val="1"/>
          <c:tx>
            <c:strRef>
              <c:f>Sheet1!$C$1</c:f>
              <c:strCache>
                <c:ptCount val="1"/>
                <c:pt idx="0">
                  <c:v>Badrex</c:v>
                </c:pt>
              </c:strCache>
            </c:strRef>
          </c:tx>
          <c:spPr>
            <a:solidFill>
              <a:srgbClr val="00C853"/>
            </a:solidFill>
            <a:effectLst/>
          </c:spPr>
          <c:invertIfNegative val="0"/>
          <c:cat>
            <c:strRef>
              <c:f>Sheet1!$A$2:$A$6</c:f>
              <c:strCache>
                <c:ptCount val="5"/>
                <c:pt idx="0">
                  <c:v>Clean</c:v>
                </c:pt>
                <c:pt idx="1">
                  <c:v>Mod. Noise</c:v>
                </c:pt>
                <c:pt idx="2">
                  <c:v>High Noise</c:v>
                </c:pt>
                <c:pt idx="3">
                  <c:v>Central Tigray</c:v>
                </c:pt>
                <c:pt idx="4">
                  <c:v>Raya</c:v>
                </c:pt>
              </c:strCache>
            </c:strRef>
          </c:cat>
          <c:val>
            <c:numRef>
              <c:f>Sheet1!$C$2:$C$6</c:f>
              <c:numCache>
                <c:formatCode>General</c:formatCode>
                <c:ptCount val="5"/>
                <c:pt idx="0">
                  <c:v>0.14000000000000001</c:v>
                </c:pt>
                <c:pt idx="1">
                  <c:v>0.87</c:v>
                </c:pt>
                <c:pt idx="2">
                  <c:v>0.95</c:v>
                </c:pt>
                <c:pt idx="3">
                  <c:v>0.23</c:v>
                </c:pt>
                <c:pt idx="4">
                  <c:v>0.98</c:v>
                </c:pt>
              </c:numCache>
            </c:numRef>
          </c:val>
          <c:extLst>
            <c:ext xmlns:c16="http://schemas.microsoft.com/office/drawing/2014/chart" uri="{C3380CC4-5D6E-409C-BE32-E72D297353CC}">
              <c16:uniqueId val="{00000001-6A37-4167-8A04-9202D0F86237}"/>
            </c:ext>
          </c:extLst>
        </c:ser>
        <c:ser>
          <c:idx val="2"/>
          <c:order val="2"/>
          <c:tx>
            <c:strRef>
              <c:f>Sheet1!$D$1</c:f>
              <c:strCache>
                <c:ptCount val="1"/>
                <c:pt idx="0">
                  <c:v>Samuael</c:v>
                </c:pt>
              </c:strCache>
            </c:strRef>
          </c:tx>
          <c:spPr>
            <a:solidFill>
              <a:srgbClr val="FF6B35"/>
            </a:solidFill>
            <a:effectLst/>
          </c:spPr>
          <c:invertIfNegative val="0"/>
          <c:cat>
            <c:strRef>
              <c:f>Sheet1!$A$2:$A$6</c:f>
              <c:strCache>
                <c:ptCount val="5"/>
                <c:pt idx="0">
                  <c:v>Clean</c:v>
                </c:pt>
                <c:pt idx="1">
                  <c:v>Mod. Noise</c:v>
                </c:pt>
                <c:pt idx="2">
                  <c:v>High Noise</c:v>
                </c:pt>
                <c:pt idx="3">
                  <c:v>Central Tigray</c:v>
                </c:pt>
                <c:pt idx="4">
                  <c:v>Raya</c:v>
                </c:pt>
              </c:strCache>
            </c:strRef>
          </c:cat>
          <c:val>
            <c:numRef>
              <c:f>Sheet1!$D$2:$D$6</c:f>
              <c:numCache>
                <c:formatCode>General</c:formatCode>
                <c:ptCount val="5"/>
                <c:pt idx="0">
                  <c:v>0.6</c:v>
                </c:pt>
                <c:pt idx="1">
                  <c:v>0.82</c:v>
                </c:pt>
                <c:pt idx="2">
                  <c:v>0.97</c:v>
                </c:pt>
                <c:pt idx="3">
                  <c:v>0.51</c:v>
                </c:pt>
                <c:pt idx="4">
                  <c:v>0.95</c:v>
                </c:pt>
              </c:numCache>
            </c:numRef>
          </c:val>
          <c:extLst>
            <c:ext xmlns:c16="http://schemas.microsoft.com/office/drawing/2014/chart" uri="{C3380CC4-5D6E-409C-BE32-E72D297353CC}">
              <c16:uniqueId val="{00000002-6A37-4167-8A04-9202D0F86237}"/>
            </c:ext>
          </c:extLst>
        </c:ser>
        <c:ser>
          <c:idx val="3"/>
          <c:order val="3"/>
          <c:tx>
            <c:strRef>
              <c:f>Sheet1!$E$1</c:f>
              <c:strCache>
                <c:ptCount val="1"/>
                <c:pt idx="0">
                  <c:v>Omnilingual</c:v>
                </c:pt>
              </c:strCache>
            </c:strRef>
          </c:tx>
          <c:spPr>
            <a:solidFill>
              <a:srgbClr val="9C27B0"/>
            </a:solidFill>
            <a:effectLst/>
          </c:spPr>
          <c:invertIfNegative val="0"/>
          <c:cat>
            <c:strRef>
              <c:f>Sheet1!$A$2:$A$6</c:f>
              <c:strCache>
                <c:ptCount val="5"/>
                <c:pt idx="0">
                  <c:v>Clean</c:v>
                </c:pt>
                <c:pt idx="1">
                  <c:v>Mod. Noise</c:v>
                </c:pt>
                <c:pt idx="2">
                  <c:v>High Noise</c:v>
                </c:pt>
                <c:pt idx="3">
                  <c:v>Central Tigray</c:v>
                </c:pt>
                <c:pt idx="4">
                  <c:v>Raya</c:v>
                </c:pt>
              </c:strCache>
            </c:strRef>
          </c:cat>
          <c:val>
            <c:numRef>
              <c:f>Sheet1!$E$2:$E$6</c:f>
              <c:numCache>
                <c:formatCode>General</c:formatCode>
                <c:ptCount val="5"/>
                <c:pt idx="0">
                  <c:v>0.38</c:v>
                </c:pt>
                <c:pt idx="1">
                  <c:v>0.8</c:v>
                </c:pt>
                <c:pt idx="2">
                  <c:v>0.94</c:v>
                </c:pt>
                <c:pt idx="3">
                  <c:v>0.37</c:v>
                </c:pt>
                <c:pt idx="4">
                  <c:v>0.92</c:v>
                </c:pt>
              </c:numCache>
            </c:numRef>
          </c:val>
          <c:extLst>
            <c:ext xmlns:c16="http://schemas.microsoft.com/office/drawing/2014/chart" uri="{C3380CC4-5D6E-409C-BE32-E72D297353CC}">
              <c16:uniqueId val="{00000003-6A37-4167-8A04-9202D0F86237}"/>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
        </c:scaling>
        <c:delete val="0"/>
        <c:axPos val="l"/>
        <c:majorGridlines>
          <c:spPr>
            <a:ln w="6350" cap="flat">
              <a:solidFill>
                <a:srgbClr val="D0D5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A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0F4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FFFFFF"/>
                </a:solidFill>
                <a:latin typeface="Arial"/>
              </a:defRPr>
            </a:pPr>
            <a:r>
              <a:rPr lang="en-US" sz="1200" b="0" i="0" u="none" strike="noStrike">
                <a:solidFill>
                  <a:srgbClr val="FFFFFF"/>
                </a:solidFill>
                <a:latin typeface="Arial"/>
              </a:rPr>
              <a:t>CER vs PIER on Code-Switched Speech</a:t>
            </a:r>
          </a:p>
        </c:rich>
      </c:tx>
      <c:overlay val="0"/>
    </c:title>
    <c:autoTitleDeleted val="0"/>
    <c:plotArea>
      <c:layout/>
      <c:barChart>
        <c:barDir val="col"/>
        <c:grouping val="clustered"/>
        <c:varyColors val="0"/>
        <c:ser>
          <c:idx val="0"/>
          <c:order val="0"/>
          <c:tx>
            <c:strRef>
              <c:f>Sheet1!$B$1</c:f>
              <c:strCache>
                <c:ptCount val="1"/>
                <c:pt idx="0">
                  <c:v>CER</c:v>
                </c:pt>
              </c:strCache>
            </c:strRef>
          </c:tx>
          <c:spPr>
            <a:solidFill>
              <a:srgbClr val="00B4D8"/>
            </a:solidFill>
            <a:effectLst/>
          </c:spPr>
          <c:invertIfNegative val="0"/>
          <c:dLbls>
            <c:delete val="1"/>
          </c:dLbls>
          <c:cat>
            <c:strRef>
              <c:f>Sheet1!$A$2:$A$5</c:f>
              <c:strCache>
                <c:ptCount val="4"/>
                <c:pt idx="0">
                  <c:v>MMS</c:v>
                </c:pt>
                <c:pt idx="1">
                  <c:v>Badrex</c:v>
                </c:pt>
                <c:pt idx="2">
                  <c:v>Samuael</c:v>
                </c:pt>
                <c:pt idx="3">
                  <c:v>Omnilingual</c:v>
                </c:pt>
              </c:strCache>
            </c:strRef>
          </c:cat>
          <c:val>
            <c:numRef>
              <c:f>Sheet1!$B$2:$B$5</c:f>
              <c:numCache>
                <c:formatCode>General</c:formatCode>
                <c:ptCount val="4"/>
                <c:pt idx="0">
                  <c:v>0.54</c:v>
                </c:pt>
                <c:pt idx="1">
                  <c:v>0.5</c:v>
                </c:pt>
                <c:pt idx="2">
                  <c:v>0.65</c:v>
                </c:pt>
                <c:pt idx="3">
                  <c:v>0.56000000000000005</c:v>
                </c:pt>
              </c:numCache>
            </c:numRef>
          </c:val>
          <c:extLst>
            <c:ext xmlns:c16="http://schemas.microsoft.com/office/drawing/2014/chart" uri="{C3380CC4-5D6E-409C-BE32-E72D297353CC}">
              <c16:uniqueId val="{00000000-8BBA-4E1C-8ACE-29CC9C8C80E3}"/>
            </c:ext>
          </c:extLst>
        </c:ser>
        <c:ser>
          <c:idx val="1"/>
          <c:order val="1"/>
          <c:tx>
            <c:strRef>
              <c:f>Sheet1!$C$1</c:f>
              <c:strCache>
                <c:ptCount val="1"/>
                <c:pt idx="0">
                  <c:v>PIER</c:v>
                </c:pt>
              </c:strCache>
            </c:strRef>
          </c:tx>
          <c:spPr>
            <a:solidFill>
              <a:srgbClr val="FF6B35"/>
            </a:solidFill>
            <a:effectLst/>
          </c:spPr>
          <c:invertIfNegative val="0"/>
          <c:dLbls>
            <c:delete val="1"/>
          </c:dLbls>
          <c:cat>
            <c:strRef>
              <c:f>Sheet1!$A$2:$A$5</c:f>
              <c:strCache>
                <c:ptCount val="4"/>
                <c:pt idx="0">
                  <c:v>MMS</c:v>
                </c:pt>
                <c:pt idx="1">
                  <c:v>Badrex</c:v>
                </c:pt>
                <c:pt idx="2">
                  <c:v>Samuael</c:v>
                </c:pt>
                <c:pt idx="3">
                  <c:v>Omnilingual</c:v>
                </c:pt>
              </c:strCache>
            </c:strRef>
          </c:cat>
          <c:val>
            <c:numRef>
              <c:f>Sheet1!$C$2:$C$5</c:f>
              <c:numCache>
                <c:formatCode>General</c:formatCode>
                <c:ptCount val="4"/>
                <c:pt idx="0">
                  <c:v>0.66</c:v>
                </c:pt>
                <c:pt idx="1">
                  <c:v>0.62</c:v>
                </c:pt>
                <c:pt idx="2">
                  <c:v>0.7</c:v>
                </c:pt>
                <c:pt idx="3">
                  <c:v>0.68</c:v>
                </c:pt>
              </c:numCache>
            </c:numRef>
          </c:val>
          <c:extLst>
            <c:ext xmlns:c16="http://schemas.microsoft.com/office/drawing/2014/chart" uri="{C3380CC4-5D6E-409C-BE32-E72D297353CC}">
              <c16:uniqueId val="{00000001-8BBA-4E1C-8ACE-29CC9C8C80E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CDDEE"/>
                </a:solidFill>
                <a:latin typeface="Arial"/>
              </a:defRPr>
            </a:pPr>
            <a:endParaRPr lang="en-US"/>
          </a:p>
        </c:txPr>
        <c:crossAx val="2094734552"/>
        <c:crosses val="autoZero"/>
        <c:auto val="1"/>
        <c:lblAlgn val="ctr"/>
        <c:lblOffset val="100"/>
        <c:noMultiLvlLbl val="1"/>
      </c:catAx>
      <c:valAx>
        <c:axId val="2094734552"/>
        <c:scaling>
          <c:orientation val="minMax"/>
          <c:max val="1"/>
        </c:scaling>
        <c:delete val="0"/>
        <c:axPos val="l"/>
        <c:majorGridlines>
          <c:spPr>
            <a:ln w="6350" cap="flat">
              <a:solidFill>
                <a:srgbClr val="1A2E5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A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92D050"/>
              </a:solidFill>
            </a:defRPr>
          </a:pPr>
          <a:endParaRPr lang="en-US"/>
        </a:p>
      </c:txPr>
    </c:legend>
    <c:plotVisOnly val="1"/>
    <c:dispBlanksAs val="span"/>
    <c:showDLblsOverMax val="1"/>
  </c:chart>
  <c:spPr>
    <a:solidFill>
      <a:srgbClr val="0F2040"/>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Short (5–10 words)</c:v>
                </c:pt>
              </c:strCache>
            </c:strRef>
          </c:tx>
          <c:spPr>
            <a:solidFill>
              <a:srgbClr val="27AE60"/>
            </a:solidFill>
            <a:effectLst/>
          </c:spPr>
          <c:invertIfNegative val="0"/>
          <c:dLbls>
            <c:delete val="1"/>
          </c:dLbls>
          <c:cat>
            <c:strRef>
              <c:f>Sheet1!$A$2:$A$5</c:f>
              <c:strCache>
                <c:ptCount val="4"/>
                <c:pt idx="0">
                  <c:v>MMS</c:v>
                </c:pt>
                <c:pt idx="1">
                  <c:v>Badrex</c:v>
                </c:pt>
                <c:pt idx="2">
                  <c:v>Samuael</c:v>
                </c:pt>
                <c:pt idx="3">
                  <c:v>Omni</c:v>
                </c:pt>
              </c:strCache>
            </c:strRef>
          </c:cat>
          <c:val>
            <c:numRef>
              <c:f>Sheet1!$B$2:$B$5</c:f>
              <c:numCache>
                <c:formatCode>General</c:formatCode>
                <c:ptCount val="4"/>
                <c:pt idx="0">
                  <c:v>0.62</c:v>
                </c:pt>
                <c:pt idx="1">
                  <c:v>0.69</c:v>
                </c:pt>
                <c:pt idx="2">
                  <c:v>0.65</c:v>
                </c:pt>
                <c:pt idx="3">
                  <c:v>0.57999999999999996</c:v>
                </c:pt>
              </c:numCache>
            </c:numRef>
          </c:val>
          <c:extLst>
            <c:ext xmlns:c16="http://schemas.microsoft.com/office/drawing/2014/chart" uri="{C3380CC4-5D6E-409C-BE32-E72D297353CC}">
              <c16:uniqueId val="{00000000-5180-4276-9DF9-E9A372B8D69E}"/>
            </c:ext>
          </c:extLst>
        </c:ser>
        <c:ser>
          <c:idx val="1"/>
          <c:order val="1"/>
          <c:tx>
            <c:strRef>
              <c:f>Sheet1!$C$1</c:f>
              <c:strCache>
                <c:ptCount val="1"/>
                <c:pt idx="0">
                  <c:v>Long (10+ words)</c:v>
                </c:pt>
              </c:strCache>
            </c:strRef>
          </c:tx>
          <c:spPr>
            <a:solidFill>
              <a:srgbClr val="F39C12"/>
            </a:solidFill>
            <a:effectLst/>
          </c:spPr>
          <c:invertIfNegative val="0"/>
          <c:dLbls>
            <c:delete val="1"/>
          </c:dLbls>
          <c:cat>
            <c:strRef>
              <c:f>Sheet1!$A$2:$A$5</c:f>
              <c:strCache>
                <c:ptCount val="4"/>
                <c:pt idx="0">
                  <c:v>MMS</c:v>
                </c:pt>
                <c:pt idx="1">
                  <c:v>Badrex</c:v>
                </c:pt>
                <c:pt idx="2">
                  <c:v>Samuael</c:v>
                </c:pt>
                <c:pt idx="3">
                  <c:v>Omni</c:v>
                </c:pt>
              </c:strCache>
            </c:strRef>
          </c:cat>
          <c:val>
            <c:numRef>
              <c:f>Sheet1!$C$2:$C$5</c:f>
              <c:numCache>
                <c:formatCode>General</c:formatCode>
                <c:ptCount val="4"/>
                <c:pt idx="0">
                  <c:v>0.75</c:v>
                </c:pt>
                <c:pt idx="1">
                  <c:v>0.5</c:v>
                </c:pt>
                <c:pt idx="2">
                  <c:v>0.71</c:v>
                </c:pt>
                <c:pt idx="3">
                  <c:v>0.65</c:v>
                </c:pt>
              </c:numCache>
            </c:numRef>
          </c:val>
          <c:extLst>
            <c:ext xmlns:c16="http://schemas.microsoft.com/office/drawing/2014/chart" uri="{C3380CC4-5D6E-409C-BE32-E72D297353CC}">
              <c16:uniqueId val="{00000001-5180-4276-9DF9-E9A372B8D69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E8F0F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A3A6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A9BC4"/>
                </a:solidFill>
                <a:latin typeface="Arial"/>
              </a:defRPr>
            </a:pPr>
            <a:endParaRPr lang="en-US"/>
          </a:p>
        </c:txPr>
        <c:crossAx val="2094734554"/>
        <c:crosses val="autoZero"/>
        <c:crossBetween val="between"/>
      </c:valAx>
      <c:spPr>
        <a:noFill/>
        <a:ln>
          <a:noFill/>
        </a:ln>
        <a:effectLst/>
      </c:spPr>
    </c:plotArea>
    <c:legend>
      <c:legendPos val="b"/>
      <c:legendEntry>
        <c:idx val="0"/>
        <c:txPr>
          <a:bodyPr/>
          <a:lstStyle/>
          <a:p>
            <a:pPr>
              <a:defRPr sz="850">
                <a:solidFill>
                  <a:srgbClr val="00B0F0"/>
                </a:solidFill>
              </a:defRPr>
            </a:pPr>
            <a:endParaRPr lang="en-US"/>
          </a:p>
        </c:txPr>
      </c:legendEntry>
      <c:legendEntry>
        <c:idx val="1"/>
        <c:txPr>
          <a:bodyPr/>
          <a:lstStyle/>
          <a:p>
            <a:pPr>
              <a:defRPr sz="850">
                <a:solidFill>
                  <a:srgbClr val="00B0F0"/>
                </a:solidFill>
              </a:defRPr>
            </a:pPr>
            <a:endParaRPr lang="en-US"/>
          </a:p>
        </c:txPr>
      </c:legendEntry>
      <c:overlay val="0"/>
      <c:txPr>
        <a:bodyPr/>
        <a:lstStyle/>
        <a:p>
          <a:pPr>
            <a:defRPr sz="850">
              <a:solidFill>
                <a:srgbClr val="00B0F0"/>
              </a:solidFill>
            </a:defRPr>
          </a:pPr>
          <a:endParaRPr lang="en-US"/>
        </a:p>
      </c:txPr>
    </c:legend>
    <c:plotVisOnly val="1"/>
    <c:dispBlanksAs val="span"/>
    <c:showDLblsOverMax val="1"/>
  </c:chart>
  <c:spPr>
    <a:solidFill>
      <a:srgbClr val="060F1E"/>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E293B"/>
                </a:solidFill>
                <a:latin typeface="Arial"/>
              </a:defRPr>
            </a:pPr>
            <a:r>
              <a:rPr lang="en-US" sz="1200" b="0" i="0" u="none" strike="noStrike">
                <a:solidFill>
                  <a:srgbClr val="1E293B"/>
                </a:solidFill>
                <a:latin typeface="Arial"/>
              </a:rPr>
              <a:t>Gender-Stratified WER</a:t>
            </a:r>
          </a:p>
        </c:rich>
      </c:tx>
      <c:overlay val="0"/>
    </c:title>
    <c:autoTitleDeleted val="0"/>
    <c:plotArea>
      <c:layout/>
      <c:barChart>
        <c:barDir val="col"/>
        <c:grouping val="clustered"/>
        <c:varyColors val="0"/>
        <c:ser>
          <c:idx val="0"/>
          <c:order val="0"/>
          <c:tx>
            <c:strRef>
              <c:f>Sheet1!$B$1</c:f>
              <c:strCache>
                <c:ptCount val="1"/>
                <c:pt idx="0">
                  <c:v>Female WER</c:v>
                </c:pt>
              </c:strCache>
            </c:strRef>
          </c:tx>
          <c:spPr>
            <a:solidFill>
              <a:srgbClr val="E91E63"/>
            </a:solidFill>
            <a:effectLst/>
          </c:spPr>
          <c:invertIfNegative val="0"/>
          <c:dLbls>
            <c:delete val="1"/>
          </c:dLbls>
          <c:cat>
            <c:strRef>
              <c:f>Sheet1!$A$2:$A$5</c:f>
              <c:strCache>
                <c:ptCount val="4"/>
                <c:pt idx="0">
                  <c:v>MMS</c:v>
                </c:pt>
                <c:pt idx="1">
                  <c:v>Badrex</c:v>
                </c:pt>
                <c:pt idx="2">
                  <c:v>Samuael</c:v>
                </c:pt>
                <c:pt idx="3">
                  <c:v>Omnilingual</c:v>
                </c:pt>
              </c:strCache>
            </c:strRef>
          </c:cat>
          <c:val>
            <c:numRef>
              <c:f>Sheet1!$B$2:$B$5</c:f>
              <c:numCache>
                <c:formatCode>General</c:formatCode>
                <c:ptCount val="4"/>
                <c:pt idx="0">
                  <c:v>0.31</c:v>
                </c:pt>
                <c:pt idx="1">
                  <c:v>0.25</c:v>
                </c:pt>
                <c:pt idx="2">
                  <c:v>0.6</c:v>
                </c:pt>
                <c:pt idx="3">
                  <c:v>0.3</c:v>
                </c:pt>
              </c:numCache>
            </c:numRef>
          </c:val>
          <c:extLst>
            <c:ext xmlns:c16="http://schemas.microsoft.com/office/drawing/2014/chart" uri="{C3380CC4-5D6E-409C-BE32-E72D297353CC}">
              <c16:uniqueId val="{00000000-C5CA-4994-B633-F55510CFE053}"/>
            </c:ext>
          </c:extLst>
        </c:ser>
        <c:ser>
          <c:idx val="1"/>
          <c:order val="1"/>
          <c:tx>
            <c:strRef>
              <c:f>Sheet1!$C$1</c:f>
              <c:strCache>
                <c:ptCount val="1"/>
                <c:pt idx="0">
                  <c:v>Male WER</c:v>
                </c:pt>
              </c:strCache>
            </c:strRef>
          </c:tx>
          <c:spPr>
            <a:solidFill>
              <a:srgbClr val="1565C0"/>
            </a:solidFill>
            <a:effectLst/>
          </c:spPr>
          <c:invertIfNegative val="0"/>
          <c:dLbls>
            <c:delete val="1"/>
          </c:dLbls>
          <c:cat>
            <c:strRef>
              <c:f>Sheet1!$A$2:$A$5</c:f>
              <c:strCache>
                <c:ptCount val="4"/>
                <c:pt idx="0">
                  <c:v>MMS</c:v>
                </c:pt>
                <c:pt idx="1">
                  <c:v>Badrex</c:v>
                </c:pt>
                <c:pt idx="2">
                  <c:v>Samuael</c:v>
                </c:pt>
                <c:pt idx="3">
                  <c:v>Omnilingual</c:v>
                </c:pt>
              </c:strCache>
            </c:strRef>
          </c:cat>
          <c:val>
            <c:numRef>
              <c:f>Sheet1!$C$2:$C$5</c:f>
              <c:numCache>
                <c:formatCode>General</c:formatCode>
                <c:ptCount val="4"/>
                <c:pt idx="0">
                  <c:v>0.84</c:v>
                </c:pt>
                <c:pt idx="1">
                  <c:v>0.17</c:v>
                </c:pt>
                <c:pt idx="2">
                  <c:v>0.67</c:v>
                </c:pt>
                <c:pt idx="3">
                  <c:v>0.7</c:v>
                </c:pt>
              </c:numCache>
            </c:numRef>
          </c:val>
          <c:extLst>
            <c:ext xmlns:c16="http://schemas.microsoft.com/office/drawing/2014/chart" uri="{C3380CC4-5D6E-409C-BE32-E72D297353CC}">
              <c16:uniqueId val="{00000001-C5CA-4994-B633-F55510CFE05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
        </c:scaling>
        <c:delete val="0"/>
        <c:axPos val="l"/>
        <c:majorGridlines>
          <c:spPr>
            <a:ln w="6350" cap="flat">
              <a:solidFill>
                <a:srgbClr val="D0D5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A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0F4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Speech type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MMS</c:v>
                </c:pt>
              </c:strCache>
            </c:strRef>
          </c:tx>
          <c:spPr>
            <a:solidFill>
              <a:schemeClr val="accent1"/>
            </a:solidFill>
            <a:ln>
              <a:noFill/>
            </a:ln>
            <a:effectLst/>
          </c:spPr>
          <c:invertIfNegative val="0"/>
          <c:cat>
            <c:strRef>
              <c:f>Sheet1!$A$2:$A$5</c:f>
              <c:strCache>
                <c:ptCount val="3"/>
                <c:pt idx="0">
                  <c:v>Careful read 
speech </c:v>
                </c:pt>
                <c:pt idx="1">
                  <c:v>Spontaneous</c:v>
                </c:pt>
                <c:pt idx="2">
                  <c:v>Broadcast news</c:v>
                </c:pt>
              </c:strCache>
            </c:strRef>
          </c:cat>
          <c:val>
            <c:numRef>
              <c:f>Sheet1!$B$2:$B$5</c:f>
              <c:numCache>
                <c:formatCode>General</c:formatCode>
                <c:ptCount val="4"/>
                <c:pt idx="0">
                  <c:v>0.35</c:v>
                </c:pt>
                <c:pt idx="1">
                  <c:v>0.9</c:v>
                </c:pt>
                <c:pt idx="2">
                  <c:v>0.52</c:v>
                </c:pt>
              </c:numCache>
            </c:numRef>
          </c:val>
          <c:extLst>
            <c:ext xmlns:c16="http://schemas.microsoft.com/office/drawing/2014/chart" uri="{C3380CC4-5D6E-409C-BE32-E72D297353CC}">
              <c16:uniqueId val="{00000000-A98E-46DF-9CBF-337DCED4CD50}"/>
            </c:ext>
          </c:extLst>
        </c:ser>
        <c:ser>
          <c:idx val="1"/>
          <c:order val="1"/>
          <c:tx>
            <c:strRef>
              <c:f>Sheet1!$C$1</c:f>
              <c:strCache>
                <c:ptCount val="1"/>
                <c:pt idx="0">
                  <c:v>Badrex</c:v>
                </c:pt>
              </c:strCache>
            </c:strRef>
          </c:tx>
          <c:spPr>
            <a:solidFill>
              <a:schemeClr val="accent2"/>
            </a:solidFill>
            <a:ln>
              <a:noFill/>
            </a:ln>
            <a:effectLst/>
          </c:spPr>
          <c:invertIfNegative val="0"/>
          <c:cat>
            <c:strRef>
              <c:f>Sheet1!$A$2:$A$5</c:f>
              <c:strCache>
                <c:ptCount val="3"/>
                <c:pt idx="0">
                  <c:v>Careful read 
speech </c:v>
                </c:pt>
                <c:pt idx="1">
                  <c:v>Spontaneous</c:v>
                </c:pt>
                <c:pt idx="2">
                  <c:v>Broadcast news</c:v>
                </c:pt>
              </c:strCache>
            </c:strRef>
          </c:cat>
          <c:val>
            <c:numRef>
              <c:f>Sheet1!$C$2:$C$5</c:f>
              <c:numCache>
                <c:formatCode>General</c:formatCode>
                <c:ptCount val="4"/>
                <c:pt idx="0">
                  <c:v>0.14000000000000001</c:v>
                </c:pt>
                <c:pt idx="1">
                  <c:v>0.65</c:v>
                </c:pt>
                <c:pt idx="2">
                  <c:v>0.36</c:v>
                </c:pt>
              </c:numCache>
            </c:numRef>
          </c:val>
          <c:extLst>
            <c:ext xmlns:c16="http://schemas.microsoft.com/office/drawing/2014/chart" uri="{C3380CC4-5D6E-409C-BE32-E72D297353CC}">
              <c16:uniqueId val="{00000001-A98E-46DF-9CBF-337DCED4CD50}"/>
            </c:ext>
          </c:extLst>
        </c:ser>
        <c:ser>
          <c:idx val="2"/>
          <c:order val="2"/>
          <c:tx>
            <c:strRef>
              <c:f>Sheet1!$D$1</c:f>
              <c:strCache>
                <c:ptCount val="1"/>
                <c:pt idx="0">
                  <c:v>Samuel</c:v>
                </c:pt>
              </c:strCache>
            </c:strRef>
          </c:tx>
          <c:spPr>
            <a:solidFill>
              <a:schemeClr val="accent3"/>
            </a:solidFill>
            <a:ln>
              <a:noFill/>
            </a:ln>
            <a:effectLst/>
          </c:spPr>
          <c:invertIfNegative val="0"/>
          <c:cat>
            <c:strRef>
              <c:f>Sheet1!$A$2:$A$5</c:f>
              <c:strCache>
                <c:ptCount val="3"/>
                <c:pt idx="0">
                  <c:v>Careful read 
speech </c:v>
                </c:pt>
                <c:pt idx="1">
                  <c:v>Spontaneous</c:v>
                </c:pt>
                <c:pt idx="2">
                  <c:v>Broadcast news</c:v>
                </c:pt>
              </c:strCache>
            </c:strRef>
          </c:cat>
          <c:val>
            <c:numRef>
              <c:f>Sheet1!$D$2:$D$5</c:f>
              <c:numCache>
                <c:formatCode>General</c:formatCode>
                <c:ptCount val="4"/>
                <c:pt idx="0">
                  <c:v>0.48</c:v>
                </c:pt>
                <c:pt idx="1">
                  <c:v>0.74</c:v>
                </c:pt>
                <c:pt idx="2">
                  <c:v>0.62</c:v>
                </c:pt>
              </c:numCache>
            </c:numRef>
          </c:val>
          <c:extLst>
            <c:ext xmlns:c16="http://schemas.microsoft.com/office/drawing/2014/chart" uri="{C3380CC4-5D6E-409C-BE32-E72D297353CC}">
              <c16:uniqueId val="{00000002-A98E-46DF-9CBF-337DCED4CD50}"/>
            </c:ext>
          </c:extLst>
        </c:ser>
        <c:ser>
          <c:idx val="3"/>
          <c:order val="3"/>
          <c:tx>
            <c:strRef>
              <c:f>Sheet1!$E$1</c:f>
              <c:strCache>
                <c:ptCount val="1"/>
                <c:pt idx="0">
                  <c:v>Omni</c:v>
                </c:pt>
              </c:strCache>
            </c:strRef>
          </c:tx>
          <c:spPr>
            <a:solidFill>
              <a:schemeClr val="accent4"/>
            </a:solidFill>
            <a:ln>
              <a:noFill/>
            </a:ln>
            <a:effectLst/>
          </c:spPr>
          <c:invertIfNegative val="0"/>
          <c:cat>
            <c:strRef>
              <c:f>Sheet1!$A$2:$A$5</c:f>
              <c:strCache>
                <c:ptCount val="3"/>
                <c:pt idx="0">
                  <c:v>Careful read 
speech </c:v>
                </c:pt>
                <c:pt idx="1">
                  <c:v>Spontaneous</c:v>
                </c:pt>
                <c:pt idx="2">
                  <c:v>Broadcast news</c:v>
                </c:pt>
              </c:strCache>
            </c:strRef>
          </c:cat>
          <c:val>
            <c:numRef>
              <c:f>Sheet1!$E$2:$E$5</c:f>
              <c:numCache>
                <c:formatCode>General</c:formatCode>
                <c:ptCount val="4"/>
                <c:pt idx="0">
                  <c:v>0.32</c:v>
                </c:pt>
                <c:pt idx="1">
                  <c:v>0.82</c:v>
                </c:pt>
                <c:pt idx="2">
                  <c:v>0.56999999999999995</c:v>
                </c:pt>
              </c:numCache>
            </c:numRef>
          </c:val>
          <c:extLst>
            <c:ext xmlns:c16="http://schemas.microsoft.com/office/drawing/2014/chart" uri="{C3380CC4-5D6E-409C-BE32-E72D297353CC}">
              <c16:uniqueId val="{00000003-A98E-46DF-9CBF-337DCED4CD50}"/>
            </c:ext>
          </c:extLst>
        </c:ser>
        <c:dLbls>
          <c:showLegendKey val="0"/>
          <c:showVal val="0"/>
          <c:showCatName val="0"/>
          <c:showSerName val="0"/>
          <c:showPercent val="0"/>
          <c:showBubbleSize val="0"/>
        </c:dLbls>
        <c:gapWidth val="219"/>
        <c:overlap val="-27"/>
        <c:axId val="763927936"/>
        <c:axId val="763916416"/>
      </c:barChart>
      <c:catAx>
        <c:axId val="763927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63916416"/>
        <c:crosses val="autoZero"/>
        <c:auto val="1"/>
        <c:lblAlgn val="ctr"/>
        <c:lblOffset val="100"/>
        <c:noMultiLvlLbl val="0"/>
      </c:catAx>
      <c:valAx>
        <c:axId val="7639164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639279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1381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present the first large-scale systematic evaluation of ASR systems for Tigrinya — a language spoken by 9 million people, yet still largely invisible to modern AI. This work was conducted at Mekelle University, sponsored by Lesan AI.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these real scenarios — don't rush. Let each question land. These are not hypothetical. These are the daily realities for millions of Tigrinya speakers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tell the story. Manual transcription creates massive bottlenecks in courts, hospitals, and media institutions. And despite ASR systems claiming Tigrinya support, no one has rigorously tested them in real-world conditions.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ASR = Automatic Speech Recognition. It converts spoken audio into written text using deep learning. For a country where over 50% of rural populations struggle with literacy, this technology is not just convenient — it's transformative.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between Tigrinya and high-resource languages is staggering. Despite being 'supported' on paper, no one had actually tested these systems under real Tigrinya speech conditions across varied speakers, dialects, and environments. That's what we did.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challenges compound each other. A Raya speaker, in a noisy court, switching between Tigrinya and English — every current ASR model collapses under this real-world combination.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build a model — we evaluated existing ones under real conditions. This is an evaluation study. The decision about which model to fine-tune came from this evidence. We chose to fine-tune Badrex because it performed best on clean speech.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4 models — 2 multilingual and 2 Tigrinya-specific — across 7 systematic conditions. All models were tested out-of-the-box with no fine-tuning, so we measure what a practitioner without Tigrinya training data would actually experience.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striking finding. Every single model — multilingual and Tigrinya-specific — completely failed on Raya dialect speakers. The models did not stay silent. They produced output — but it was Central Tigray phonology forced onto Raya speech. That's systematic hallucination.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English words appear in a Tigrinya sentence, every model forces those English words into Tigrinya syllable patterns. PIER rising above CER reveals a secondary failure mode: not just wrong characters, but broken word boundaries. This is segmentation collapse.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Gender bias flips direction depending on the model. MMS favors female speakers 3.3x. Badrex favors male speakers. This tells us the bias is in the training data — not in biology. And normalization: a simple 21-character mapping reduces reported error by up to 19% across all 4 architectures. This must be a mandatory preprocessing step.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deployment-ready recommendations. Not every model is the same. Match the model to the use case. And for Raya speakers — do not deploy any current model. It would be worse than no system at all, because it produces confident-sounding nonsense.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stopping at evaluation. Based on our findings, we selected Badrex as the model to fine-tune. Our dataset is already in the hands of Lesan AI and MIT collaborators. The work is moving. We are building the future of Tigrinya voice AI.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 If you are working on low-resource ASR, African languages, or fairness in AI, we would love to connect. Our dataset is available to researchers on request — let's collaborate and build voice AI that works for everyone.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ransition spd="slow">
    <p:push dir="u"/>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4.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0.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Shape 1"/>
          <p:cNvSpPr/>
          <p:nvPr/>
        </p:nvSpPr>
        <p:spPr>
          <a:xfrm>
            <a:off x="0" y="73152"/>
            <a:ext cx="109728" cy="5070348"/>
          </a:xfrm>
          <a:prstGeom prst="rect">
            <a:avLst/>
          </a:prstGeom>
          <a:solidFill>
            <a:srgbClr val="FF6B35"/>
          </a:solidFill>
          <a:ln w="12700">
            <a:solidFill>
              <a:srgbClr val="FF6B35"/>
            </a:solidFill>
            <a:prstDash val="solid"/>
          </a:ln>
        </p:spPr>
      </p:sp>
      <p:pic>
        <p:nvPicPr>
          <p:cNvPr id="5" name="Image 0" descr="preencoded.png"/>
          <p:cNvPicPr>
            <a:picLocks noChangeAspect="1"/>
          </p:cNvPicPr>
          <p:nvPr/>
        </p:nvPicPr>
        <p:blipFill>
          <a:blip r:embed="rId3"/>
          <a:stretch>
            <a:fillRect/>
          </a:stretch>
        </p:blipFill>
        <p:spPr>
          <a:xfrm>
            <a:off x="7269480" y="1005840"/>
            <a:ext cx="1310640" cy="1310640"/>
          </a:xfrm>
          <a:prstGeom prst="rect">
            <a:avLst/>
          </a:prstGeom>
          <a:solidFill>
            <a:srgbClr val="00B0F0"/>
          </a:solidFill>
        </p:spPr>
      </p:pic>
      <p:sp>
        <p:nvSpPr>
          <p:cNvPr id="6" name="Shape 3"/>
          <p:cNvSpPr/>
          <p:nvPr/>
        </p:nvSpPr>
        <p:spPr>
          <a:xfrm>
            <a:off x="274320" y="182880"/>
            <a:ext cx="1920240" cy="384048"/>
          </a:xfrm>
          <a:prstGeom prst="rect">
            <a:avLst/>
          </a:prstGeom>
          <a:solidFill>
            <a:srgbClr val="00B4D8"/>
          </a:solidFill>
          <a:ln w="12700">
            <a:solidFill>
              <a:srgbClr val="00B4D8"/>
            </a:solidFill>
            <a:prstDash val="solid"/>
          </a:ln>
        </p:spPr>
      </p:sp>
      <p:sp>
        <p:nvSpPr>
          <p:cNvPr id="7" name="Text 4"/>
          <p:cNvSpPr/>
          <p:nvPr/>
        </p:nvSpPr>
        <p:spPr>
          <a:xfrm>
            <a:off x="274320" y="182880"/>
            <a:ext cx="1920240" cy="384048"/>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AI4SD 2026</a:t>
            </a:r>
            <a:endParaRPr lang="en-US" sz="1300" dirty="0"/>
          </a:p>
        </p:txBody>
      </p:sp>
      <p:sp>
        <p:nvSpPr>
          <p:cNvPr id="8" name="Text 5"/>
          <p:cNvSpPr/>
          <p:nvPr/>
        </p:nvSpPr>
        <p:spPr>
          <a:xfrm>
            <a:off x="274320" y="914400"/>
            <a:ext cx="6217920" cy="50292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Systematic Evaluation of</a:t>
            </a:r>
            <a:endParaRPr lang="en-US" sz="2800" dirty="0"/>
          </a:p>
        </p:txBody>
      </p:sp>
      <p:sp>
        <p:nvSpPr>
          <p:cNvPr id="9" name="Text 6"/>
          <p:cNvSpPr/>
          <p:nvPr/>
        </p:nvSpPr>
        <p:spPr>
          <a:xfrm>
            <a:off x="274320" y="1417320"/>
            <a:ext cx="6583680" cy="548640"/>
          </a:xfrm>
          <a:prstGeom prst="rect">
            <a:avLst/>
          </a:prstGeom>
          <a:noFill/>
          <a:ln/>
        </p:spPr>
        <p:txBody>
          <a:bodyPr wrap="square" lIns="0" tIns="0" rIns="0" bIns="0" rtlCol="0" anchor="ctr"/>
          <a:lstStyle/>
          <a:p>
            <a:pPr marL="0" indent="0" algn="l">
              <a:buNone/>
            </a:pPr>
            <a:r>
              <a:rPr lang="en-US" sz="3200" b="1" dirty="0">
                <a:solidFill>
                  <a:srgbClr val="00B4D8"/>
                </a:solidFill>
                <a:latin typeface="Calibri" pitchFamily="34" charset="0"/>
                <a:ea typeface="Calibri" pitchFamily="34" charset="-122"/>
                <a:cs typeface="Calibri" pitchFamily="34" charset="-120"/>
              </a:rPr>
              <a:t>Automatic Speech Recognition</a:t>
            </a:r>
            <a:endParaRPr lang="en-US" sz="3200" dirty="0"/>
          </a:p>
        </p:txBody>
      </p:sp>
      <p:sp>
        <p:nvSpPr>
          <p:cNvPr id="10" name="Text 7"/>
          <p:cNvSpPr/>
          <p:nvPr/>
        </p:nvSpPr>
        <p:spPr>
          <a:xfrm>
            <a:off x="274320" y="1965960"/>
            <a:ext cx="6583680" cy="548640"/>
          </a:xfrm>
          <a:prstGeom prst="rect">
            <a:avLst/>
          </a:prstGeom>
          <a:noFill/>
          <a:ln/>
        </p:spPr>
        <p:txBody>
          <a:bodyPr wrap="square" lIns="0" tIns="0" rIns="0" bIns="0"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Systems for Tigrinya</a:t>
            </a:r>
            <a:endParaRPr lang="en-US" sz="3200" dirty="0"/>
          </a:p>
        </p:txBody>
      </p:sp>
      <p:sp>
        <p:nvSpPr>
          <p:cNvPr id="11" name="Text 8"/>
          <p:cNvSpPr/>
          <p:nvPr/>
        </p:nvSpPr>
        <p:spPr>
          <a:xfrm>
            <a:off x="274320" y="2633472"/>
            <a:ext cx="6583680" cy="640080"/>
          </a:xfrm>
          <a:prstGeom prst="rect">
            <a:avLst/>
          </a:prstGeom>
          <a:noFill/>
          <a:ln/>
        </p:spPr>
        <p:txBody>
          <a:bodyPr wrap="square" lIns="0" tIns="0" rIns="0" bIns="0" rtlCol="0" anchor="t"/>
          <a:lstStyle/>
          <a:p>
            <a:pPr marL="0" indent="0" algn="l">
              <a:buNone/>
            </a:pPr>
            <a:r>
              <a:rPr lang="en-US" sz="1400" dirty="0">
                <a:solidFill>
                  <a:srgbClr val="E8F1FF"/>
                </a:solidFill>
                <a:latin typeface="Calibri" pitchFamily="34" charset="0"/>
                <a:ea typeface="Calibri" pitchFamily="34" charset="-122"/>
                <a:cs typeface="Calibri" pitchFamily="34" charset="-120"/>
              </a:rPr>
              <a:t>Quantifying Performance Disparities Across Dialects,</a:t>
            </a:r>
            <a:endParaRPr lang="en-US" sz="1400" dirty="0"/>
          </a:p>
          <a:p>
            <a:pPr marL="0" indent="0" algn="l">
              <a:buNone/>
            </a:pPr>
            <a:r>
              <a:rPr lang="en-US" sz="1400" dirty="0">
                <a:solidFill>
                  <a:srgbClr val="E8F1FF"/>
                </a:solidFill>
                <a:latin typeface="Calibri" pitchFamily="34" charset="0"/>
                <a:ea typeface="Calibri" pitchFamily="34" charset="-122"/>
                <a:cs typeface="Calibri" pitchFamily="34" charset="-120"/>
              </a:rPr>
              <a:t>Demographics, and Acoustic Conditions</a:t>
            </a:r>
            <a:endParaRPr lang="en-US" sz="1400" dirty="0"/>
          </a:p>
        </p:txBody>
      </p:sp>
      <p:sp>
        <p:nvSpPr>
          <p:cNvPr id="12" name="Shape 9"/>
          <p:cNvSpPr/>
          <p:nvPr/>
        </p:nvSpPr>
        <p:spPr>
          <a:xfrm>
            <a:off x="164592" y="3797046"/>
            <a:ext cx="8924544" cy="1074420"/>
          </a:xfrm>
          <a:prstGeom prst="rect">
            <a:avLst/>
          </a:prstGeom>
          <a:solidFill>
            <a:srgbClr val="0F2040"/>
          </a:solidFill>
          <a:ln w="12700">
            <a:solidFill>
              <a:srgbClr val="0F2040"/>
            </a:solidFill>
            <a:prstDash val="solid"/>
          </a:ln>
        </p:spPr>
      </p:sp>
      <p:sp>
        <p:nvSpPr>
          <p:cNvPr id="13" name="Text 10"/>
          <p:cNvSpPr/>
          <p:nvPr/>
        </p:nvSpPr>
        <p:spPr>
          <a:xfrm>
            <a:off x="274320" y="4160520"/>
            <a:ext cx="859536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Weldesemayat Teklay  |  Gebregergs Mekonen  |  Yaecob Girmay  |  Maarig Aregawi</a:t>
            </a:r>
            <a:endParaRPr lang="en-US" sz="1300" dirty="0"/>
          </a:p>
        </p:txBody>
      </p:sp>
      <p:sp>
        <p:nvSpPr>
          <p:cNvPr id="14" name="Text 11"/>
          <p:cNvSpPr/>
          <p:nvPr/>
        </p:nvSpPr>
        <p:spPr>
          <a:xfrm>
            <a:off x="274320" y="4507992"/>
            <a:ext cx="8595360" cy="292608"/>
          </a:xfrm>
          <a:prstGeom prst="rect">
            <a:avLst/>
          </a:prstGeom>
          <a:noFill/>
          <a:ln/>
        </p:spPr>
        <p:txBody>
          <a:bodyPr wrap="square" lIns="0" tIns="0" rIns="0" bIns="0" rtlCol="0" anchor="ctr"/>
          <a:lstStyle/>
          <a:p>
            <a:pPr marL="0" indent="0" algn="l">
              <a:buNone/>
            </a:pPr>
            <a:r>
              <a:rPr lang="en-US" sz="1100" dirty="0">
                <a:solidFill>
                  <a:srgbClr val="8899AA"/>
                </a:solidFill>
                <a:latin typeface="Calibri" pitchFamily="34" charset="0"/>
                <a:ea typeface="Calibri" pitchFamily="34" charset="-122"/>
                <a:cs typeface="Calibri" pitchFamily="34" charset="-120"/>
              </a:rPr>
              <a:t>Mekelle University – Mekelle Institute of Technology  |  Sponsored by Lesan AI</a:t>
            </a:r>
            <a:endParaRPr lang="en-US" sz="1100" dirty="0"/>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6B35"/>
          </a:solidFill>
          <a:ln w="12700">
            <a:solidFill>
              <a:srgbClr val="FF6B35"/>
            </a:solidFill>
            <a:prstDash val="solid"/>
          </a:ln>
        </p:spPr>
      </p:sp>
      <p:sp>
        <p:nvSpPr>
          <p:cNvPr id="3" name="Text 1"/>
          <p:cNvSpPr/>
          <p:nvPr/>
        </p:nvSpPr>
        <p:spPr>
          <a:xfrm>
            <a:off x="457200" y="182880"/>
            <a:ext cx="8229600" cy="594360"/>
          </a:xfrm>
          <a:prstGeom prst="rect">
            <a:avLst/>
          </a:prstGeom>
          <a:noFill/>
          <a:ln/>
        </p:spPr>
        <p:txBody>
          <a:bodyPr wrap="square" lIns="0" tIns="0" rIns="0" bIns="0" rtlCol="0" anchor="ctr"/>
          <a:lstStyle/>
          <a:p>
            <a:pPr marL="0" indent="0" algn="l">
              <a:buNone/>
            </a:pPr>
            <a:r>
              <a:rPr lang="en-US" sz="3400" b="1" dirty="0">
                <a:solidFill>
                  <a:srgbClr val="FF6B35"/>
                </a:solidFill>
                <a:latin typeface="Calibri" pitchFamily="34" charset="0"/>
                <a:ea typeface="Calibri" pitchFamily="34" charset="-122"/>
                <a:cs typeface="Calibri" pitchFamily="34" charset="-120"/>
              </a:rPr>
              <a:t>Imagine…</a:t>
            </a:r>
            <a:endParaRPr lang="en-US" sz="3400" dirty="0"/>
          </a:p>
        </p:txBody>
      </p:sp>
      <p:sp>
        <p:nvSpPr>
          <p:cNvPr id="4" name="Shape 2"/>
          <p:cNvSpPr/>
          <p:nvPr/>
        </p:nvSpPr>
        <p:spPr>
          <a:xfrm>
            <a:off x="228600" y="868680"/>
            <a:ext cx="8686800" cy="658368"/>
          </a:xfrm>
          <a:prstGeom prst="rect">
            <a:avLst/>
          </a:prstGeom>
          <a:solidFill>
            <a:srgbClr val="0F2040"/>
          </a:solidFill>
          <a:ln/>
          <a:effectLst>
            <a:outerShdw blurRad="101600" dist="25400" dir="8100000" algn="bl" rotWithShape="0">
              <a:srgbClr val="000000">
                <a:alpha val="18000"/>
              </a:srgbClr>
            </a:outerShdw>
          </a:effectLst>
        </p:spPr>
      </p:sp>
      <p:pic>
        <p:nvPicPr>
          <p:cNvPr id="5" name="Image 0" descr="preencoded.png"/>
          <p:cNvPicPr>
            <a:picLocks noChangeAspect="1"/>
          </p:cNvPicPr>
          <p:nvPr/>
        </p:nvPicPr>
        <p:blipFill>
          <a:blip r:embed="rId3"/>
          <a:stretch>
            <a:fillRect/>
          </a:stretch>
        </p:blipFill>
        <p:spPr>
          <a:xfrm>
            <a:off x="347472" y="996696"/>
            <a:ext cx="256032" cy="256032"/>
          </a:xfrm>
          <a:prstGeom prst="rect">
            <a:avLst/>
          </a:prstGeom>
        </p:spPr>
      </p:pic>
      <p:sp>
        <p:nvSpPr>
          <p:cNvPr id="6" name="Text 3"/>
          <p:cNvSpPr/>
          <p:nvPr/>
        </p:nvSpPr>
        <p:spPr>
          <a:xfrm>
            <a:off x="685800" y="941832"/>
            <a:ext cx="8092440" cy="50292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 farmer cannot check market prices — because he cannot write.</a:t>
            </a:r>
            <a:endParaRPr lang="en-US" sz="1500" dirty="0"/>
          </a:p>
        </p:txBody>
      </p:sp>
      <p:sp>
        <p:nvSpPr>
          <p:cNvPr id="7" name="Shape 4"/>
          <p:cNvSpPr/>
          <p:nvPr/>
        </p:nvSpPr>
        <p:spPr>
          <a:xfrm>
            <a:off x="228600" y="1645920"/>
            <a:ext cx="8686800" cy="658368"/>
          </a:xfrm>
          <a:prstGeom prst="rect">
            <a:avLst/>
          </a:prstGeom>
          <a:solidFill>
            <a:srgbClr val="0F2040"/>
          </a:solidFill>
          <a:ln/>
          <a:effectLst>
            <a:outerShdw blurRad="101600" dist="25400" dir="8100000" algn="bl" rotWithShape="0">
              <a:srgbClr val="000000">
                <a:alpha val="18000"/>
              </a:srgbClr>
            </a:outerShdw>
          </a:effectLst>
        </p:spPr>
      </p:sp>
      <p:pic>
        <p:nvPicPr>
          <p:cNvPr id="8" name="Image 1" descr="preencoded.png"/>
          <p:cNvPicPr>
            <a:picLocks noChangeAspect="1"/>
          </p:cNvPicPr>
          <p:nvPr/>
        </p:nvPicPr>
        <p:blipFill>
          <a:blip r:embed="rId3"/>
          <a:stretch>
            <a:fillRect/>
          </a:stretch>
        </p:blipFill>
        <p:spPr>
          <a:xfrm>
            <a:off x="347472" y="1773936"/>
            <a:ext cx="256032" cy="256032"/>
          </a:xfrm>
          <a:prstGeom prst="rect">
            <a:avLst/>
          </a:prstGeom>
        </p:spPr>
      </p:pic>
      <p:sp>
        <p:nvSpPr>
          <p:cNvPr id="9" name="Text 5"/>
          <p:cNvSpPr/>
          <p:nvPr/>
        </p:nvSpPr>
        <p:spPr>
          <a:xfrm>
            <a:off x="685800" y="1719072"/>
            <a:ext cx="8092440" cy="50292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 court case delayed for weeks — because manual transcription takes long time.</a:t>
            </a:r>
            <a:endParaRPr lang="en-US" sz="1500" dirty="0"/>
          </a:p>
        </p:txBody>
      </p:sp>
      <p:sp>
        <p:nvSpPr>
          <p:cNvPr id="10" name="Shape 6"/>
          <p:cNvSpPr/>
          <p:nvPr/>
        </p:nvSpPr>
        <p:spPr>
          <a:xfrm>
            <a:off x="228600" y="2423160"/>
            <a:ext cx="8686800" cy="658368"/>
          </a:xfrm>
          <a:prstGeom prst="rect">
            <a:avLst/>
          </a:prstGeom>
          <a:solidFill>
            <a:srgbClr val="0F2040"/>
          </a:solidFill>
          <a:ln/>
          <a:effectLst>
            <a:outerShdw blurRad="101600" dist="25400" dir="8100000" algn="bl" rotWithShape="0">
              <a:srgbClr val="000000">
                <a:alpha val="18000"/>
              </a:srgbClr>
            </a:outerShdw>
          </a:effectLst>
        </p:spPr>
      </p:sp>
      <p:pic>
        <p:nvPicPr>
          <p:cNvPr id="11" name="Image 2" descr="preencoded.png"/>
          <p:cNvPicPr>
            <a:picLocks noChangeAspect="1"/>
          </p:cNvPicPr>
          <p:nvPr/>
        </p:nvPicPr>
        <p:blipFill>
          <a:blip r:embed="rId3"/>
          <a:stretch>
            <a:fillRect/>
          </a:stretch>
        </p:blipFill>
        <p:spPr>
          <a:xfrm>
            <a:off x="347472" y="2551176"/>
            <a:ext cx="256032" cy="256032"/>
          </a:xfrm>
          <a:prstGeom prst="rect">
            <a:avLst/>
          </a:prstGeom>
        </p:spPr>
      </p:pic>
      <p:sp>
        <p:nvSpPr>
          <p:cNvPr id="12" name="Text 7"/>
          <p:cNvSpPr/>
          <p:nvPr/>
        </p:nvSpPr>
        <p:spPr>
          <a:xfrm>
            <a:off x="685800" y="2496312"/>
            <a:ext cx="8092440" cy="50292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An elder's lifetime of knowledge lost — because she cannot write.</a:t>
            </a:r>
            <a:endParaRPr lang="en-US" sz="1500" dirty="0"/>
          </a:p>
        </p:txBody>
      </p:sp>
      <p:sp>
        <p:nvSpPr>
          <p:cNvPr id="13" name="Shape 8"/>
          <p:cNvSpPr/>
          <p:nvPr/>
        </p:nvSpPr>
        <p:spPr>
          <a:xfrm>
            <a:off x="228600" y="3200400"/>
            <a:ext cx="8686800" cy="658368"/>
          </a:xfrm>
          <a:prstGeom prst="rect">
            <a:avLst/>
          </a:prstGeom>
          <a:solidFill>
            <a:srgbClr val="0F2040"/>
          </a:solidFill>
          <a:ln/>
          <a:effectLst>
            <a:outerShdw blurRad="101600" dist="25400" dir="8100000" algn="bl" rotWithShape="0">
              <a:srgbClr val="000000">
                <a:alpha val="18000"/>
              </a:srgbClr>
            </a:outerShdw>
          </a:effectLst>
        </p:spPr>
      </p:sp>
      <p:pic>
        <p:nvPicPr>
          <p:cNvPr id="14" name="Image 3" descr="preencoded.png"/>
          <p:cNvPicPr>
            <a:picLocks noChangeAspect="1"/>
          </p:cNvPicPr>
          <p:nvPr/>
        </p:nvPicPr>
        <p:blipFill>
          <a:blip r:embed="rId3"/>
          <a:stretch>
            <a:fillRect/>
          </a:stretch>
        </p:blipFill>
        <p:spPr>
          <a:xfrm>
            <a:off x="347472" y="3328416"/>
            <a:ext cx="256032" cy="256032"/>
          </a:xfrm>
          <a:prstGeom prst="rect">
            <a:avLst/>
          </a:prstGeom>
        </p:spPr>
      </p:pic>
      <p:sp>
        <p:nvSpPr>
          <p:cNvPr id="15" name="Text 9"/>
          <p:cNvSpPr/>
          <p:nvPr/>
        </p:nvSpPr>
        <p:spPr>
          <a:xfrm>
            <a:off x="685800" y="3273552"/>
            <a:ext cx="8092440" cy="50292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 patient silenced — unable to ask a health question due to illiteracy.</a:t>
            </a:r>
            <a:endParaRPr lang="en-US" sz="1500" dirty="0"/>
          </a:p>
        </p:txBody>
      </p:sp>
      <p:sp>
        <p:nvSpPr>
          <p:cNvPr id="16" name="Shape 10"/>
          <p:cNvSpPr/>
          <p:nvPr/>
        </p:nvSpPr>
        <p:spPr>
          <a:xfrm>
            <a:off x="228600" y="3977640"/>
            <a:ext cx="8686800" cy="658368"/>
          </a:xfrm>
          <a:prstGeom prst="rect">
            <a:avLst/>
          </a:prstGeom>
          <a:solidFill>
            <a:srgbClr val="0F2040"/>
          </a:solidFill>
          <a:ln/>
          <a:effectLst>
            <a:outerShdw blurRad="101600" dist="25400" dir="8100000" algn="bl" rotWithShape="0">
              <a:srgbClr val="000000">
                <a:alpha val="18000"/>
              </a:srgbClr>
            </a:outerShdw>
          </a:effectLst>
        </p:spPr>
      </p:sp>
      <p:pic>
        <p:nvPicPr>
          <p:cNvPr id="17" name="Image 4" descr="preencoded.png"/>
          <p:cNvPicPr>
            <a:picLocks noChangeAspect="1"/>
          </p:cNvPicPr>
          <p:nvPr/>
        </p:nvPicPr>
        <p:blipFill>
          <a:blip r:embed="rId3"/>
          <a:stretch>
            <a:fillRect/>
          </a:stretch>
        </p:blipFill>
        <p:spPr>
          <a:xfrm>
            <a:off x="347472" y="4105656"/>
            <a:ext cx="256032" cy="256032"/>
          </a:xfrm>
          <a:prstGeom prst="rect">
            <a:avLst/>
          </a:prstGeom>
        </p:spPr>
      </p:pic>
      <p:sp>
        <p:nvSpPr>
          <p:cNvPr id="18" name="Text 11"/>
          <p:cNvSpPr/>
          <p:nvPr/>
        </p:nvSpPr>
        <p:spPr>
          <a:xfrm>
            <a:off x="685800" y="4050792"/>
            <a:ext cx="8092440" cy="50292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 disabled person cut off — because voice technology does not speak their language.</a:t>
            </a:r>
            <a:endParaRPr lang="en-US" sz="1500" dirty="0"/>
          </a:p>
        </p:txBody>
      </p:sp>
      <p:sp>
        <p:nvSpPr>
          <p:cNvPr id="19" name="Text 12"/>
          <p:cNvSpPr/>
          <p:nvPr/>
        </p:nvSpPr>
        <p:spPr>
          <a:xfrm>
            <a:off x="457200" y="4754880"/>
            <a:ext cx="8229600" cy="292608"/>
          </a:xfrm>
          <a:prstGeom prst="rect">
            <a:avLst/>
          </a:prstGeom>
          <a:noFill/>
          <a:ln/>
        </p:spPr>
        <p:txBody>
          <a:bodyPr wrap="square" lIns="0" tIns="0" rIns="0" bIns="0" rtlCol="0" anchor="ctr"/>
          <a:lstStyle/>
          <a:p>
            <a:pPr marL="0" indent="0" algn="ctr">
              <a:buNone/>
            </a:pPr>
            <a:r>
              <a:rPr lang="en-US" sz="1400" b="1" dirty="0">
                <a:solidFill>
                  <a:srgbClr val="00B4D8"/>
                </a:solidFill>
                <a:latin typeface="Calibri" pitchFamily="34" charset="0"/>
                <a:ea typeface="Calibri" pitchFamily="34" charset="-122"/>
                <a:cs typeface="Calibri" pitchFamily="34" charset="-120"/>
              </a:rPr>
              <a:t>Voice AI must work for everyone — not just for high-resource languages.</a:t>
            </a:r>
            <a:endParaRPr lang="en-US" sz="14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1628"/>
          </a:solidFill>
          <a:ln w="12700">
            <a:solidFill>
              <a:srgbClr val="0A1628"/>
            </a:solidFill>
            <a:prstDash val="solid"/>
          </a:ln>
        </p:spPr>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800" b="1" dirty="0">
                <a:solidFill>
                  <a:srgbClr val="0A1628"/>
                </a:solidFill>
                <a:latin typeface="Calibri" pitchFamily="34" charset="0"/>
                <a:ea typeface="Calibri" pitchFamily="34" charset="-122"/>
                <a:cs typeface="Calibri" pitchFamily="34" charset="-120"/>
              </a:rPr>
              <a:t>The Problem Is Real</a:t>
            </a:r>
            <a:endParaRPr lang="en-US" sz="2800" dirty="0"/>
          </a:p>
        </p:txBody>
      </p:sp>
      <p:sp>
        <p:nvSpPr>
          <p:cNvPr id="4" name="Shape 2"/>
          <p:cNvSpPr/>
          <p:nvPr/>
        </p:nvSpPr>
        <p:spPr>
          <a:xfrm>
            <a:off x="457200" y="886968"/>
            <a:ext cx="8229600" cy="22860"/>
          </a:xfrm>
          <a:prstGeom prst="rect">
            <a:avLst/>
          </a:prstGeom>
          <a:solidFill>
            <a:srgbClr val="00B4D8"/>
          </a:solidFill>
          <a:ln w="12700">
            <a:solidFill>
              <a:srgbClr val="00B4D8"/>
            </a:solidFill>
            <a:prstDash val="solid"/>
          </a:ln>
        </p:spPr>
      </p:sp>
      <p:sp>
        <p:nvSpPr>
          <p:cNvPr id="5" name="Shape 3"/>
          <p:cNvSpPr/>
          <p:nvPr/>
        </p:nvSpPr>
        <p:spPr>
          <a:xfrm>
            <a:off x="320040" y="960120"/>
            <a:ext cx="4023360" cy="1691640"/>
          </a:xfrm>
          <a:prstGeom prst="rect">
            <a:avLst/>
          </a:prstGeom>
          <a:solidFill>
            <a:srgbClr val="0A1628"/>
          </a:solidFill>
          <a:ln/>
          <a:effectLst>
            <a:outerShdw blurRad="101600" dist="25400" dir="8100000" algn="bl" rotWithShape="0">
              <a:srgbClr val="000000">
                <a:alpha val="18000"/>
              </a:srgbClr>
            </a:outerShdw>
          </a:effectLst>
        </p:spPr>
      </p:sp>
      <p:sp>
        <p:nvSpPr>
          <p:cNvPr id="6" name="Shape 4"/>
          <p:cNvSpPr/>
          <p:nvPr/>
        </p:nvSpPr>
        <p:spPr>
          <a:xfrm>
            <a:off x="484632" y="1124712"/>
            <a:ext cx="640080" cy="640080"/>
          </a:xfrm>
          <a:prstGeom prst="line">
            <a:avLst/>
          </a:prstGeom>
          <a:solidFill>
            <a:srgbClr val="00B4D8"/>
          </a:solidFill>
          <a:ln w="12700">
            <a:solidFill>
              <a:srgbClr val="00B4D8"/>
            </a:solidFill>
            <a:prstDash val="solid"/>
          </a:ln>
        </p:spPr>
      </p:sp>
      <p:pic>
        <p:nvPicPr>
          <p:cNvPr id="7" name="Image 0" descr="preencoded.png"/>
          <p:cNvPicPr>
            <a:picLocks noChangeAspect="1"/>
          </p:cNvPicPr>
          <p:nvPr/>
        </p:nvPicPr>
        <p:blipFill>
          <a:blip r:embed="rId3"/>
          <a:stretch>
            <a:fillRect/>
          </a:stretch>
        </p:blipFill>
        <p:spPr>
          <a:xfrm>
            <a:off x="566928" y="1207008"/>
            <a:ext cx="475488" cy="475488"/>
          </a:xfrm>
          <a:prstGeom prst="rect">
            <a:avLst/>
          </a:prstGeom>
        </p:spPr>
      </p:pic>
      <p:sp>
        <p:nvSpPr>
          <p:cNvPr id="8" name="Text 5"/>
          <p:cNvSpPr/>
          <p:nvPr/>
        </p:nvSpPr>
        <p:spPr>
          <a:xfrm>
            <a:off x="1234440" y="1124712"/>
            <a:ext cx="2971800" cy="548640"/>
          </a:xfrm>
          <a:prstGeom prst="rect">
            <a:avLst/>
          </a:prstGeom>
          <a:noFill/>
          <a:ln/>
        </p:spPr>
        <p:txBody>
          <a:bodyPr wrap="square" lIns="0" tIns="0" rIns="0" bIns="0" rtlCol="0" anchor="ctr"/>
          <a:lstStyle/>
          <a:p>
            <a:pPr marL="0" indent="0">
              <a:buNone/>
            </a:pPr>
            <a:r>
              <a:rPr lang="en-US" sz="2800" b="1" dirty="0">
                <a:solidFill>
                  <a:srgbClr val="FFC107"/>
                </a:solidFill>
                <a:latin typeface="Calibri" pitchFamily="34" charset="0"/>
                <a:ea typeface="Calibri" pitchFamily="34" charset="-122"/>
                <a:cs typeface="Calibri" pitchFamily="34" charset="-120"/>
              </a:rPr>
              <a:t>8 hrs</a:t>
            </a:r>
            <a:endParaRPr lang="en-US" sz="2800" dirty="0"/>
          </a:p>
        </p:txBody>
      </p:sp>
      <p:sp>
        <p:nvSpPr>
          <p:cNvPr id="9" name="Text 6"/>
          <p:cNvSpPr/>
          <p:nvPr/>
        </p:nvSpPr>
        <p:spPr>
          <a:xfrm>
            <a:off x="484632" y="1783080"/>
            <a:ext cx="3703320" cy="731520"/>
          </a:xfrm>
          <a:prstGeom prst="rect">
            <a:avLst/>
          </a:prstGeom>
          <a:noFill/>
          <a:ln/>
        </p:spPr>
        <p:txBody>
          <a:bodyPr wrap="square" lIns="0" tIns="0" rIns="0" bIns="0" rtlCol="0" anchor="t"/>
          <a:lstStyle/>
          <a:p>
            <a:pPr marL="0" indent="0">
              <a:buNone/>
            </a:pPr>
            <a:r>
              <a:rPr lang="en-US" sz="1300" dirty="0">
                <a:solidFill>
                  <a:srgbClr val="E8F1FF"/>
                </a:solidFill>
                <a:latin typeface="Calibri" pitchFamily="34" charset="0"/>
                <a:ea typeface="Calibri" pitchFamily="34" charset="-122"/>
                <a:cs typeface="Calibri" pitchFamily="34" charset="-120"/>
              </a:rPr>
              <a:t>to transcribe 1 hour of courtroom audio — manually</a:t>
            </a:r>
            <a:endParaRPr lang="en-US" sz="1300" dirty="0"/>
          </a:p>
        </p:txBody>
      </p:sp>
      <p:sp>
        <p:nvSpPr>
          <p:cNvPr id="10" name="Shape 7"/>
          <p:cNvSpPr/>
          <p:nvPr/>
        </p:nvSpPr>
        <p:spPr>
          <a:xfrm>
            <a:off x="4800600" y="960120"/>
            <a:ext cx="4023360" cy="1691640"/>
          </a:xfrm>
          <a:prstGeom prst="rect">
            <a:avLst/>
          </a:prstGeom>
          <a:solidFill>
            <a:srgbClr val="0A1628"/>
          </a:solidFill>
          <a:ln/>
          <a:effectLst>
            <a:outerShdw blurRad="101600" dist="25400" dir="8100000" algn="bl" rotWithShape="0">
              <a:srgbClr val="000000">
                <a:alpha val="18000"/>
              </a:srgbClr>
            </a:outerShdw>
          </a:effectLst>
        </p:spPr>
      </p:sp>
      <p:sp>
        <p:nvSpPr>
          <p:cNvPr id="11" name="Shape 8"/>
          <p:cNvSpPr/>
          <p:nvPr/>
        </p:nvSpPr>
        <p:spPr>
          <a:xfrm>
            <a:off x="4965192" y="1124712"/>
            <a:ext cx="640080" cy="640080"/>
          </a:xfrm>
          <a:prstGeom prst="line">
            <a:avLst/>
          </a:prstGeom>
          <a:solidFill>
            <a:srgbClr val="00B4D8"/>
          </a:solidFill>
          <a:ln w="12700">
            <a:solidFill>
              <a:srgbClr val="00B4D8"/>
            </a:solidFill>
            <a:prstDash val="solid"/>
          </a:ln>
        </p:spPr>
      </p:sp>
      <p:pic>
        <p:nvPicPr>
          <p:cNvPr id="12" name="Image 1" descr="preencoded.png"/>
          <p:cNvPicPr>
            <a:picLocks noChangeAspect="1"/>
          </p:cNvPicPr>
          <p:nvPr/>
        </p:nvPicPr>
        <p:blipFill>
          <a:blip r:embed="rId4"/>
          <a:stretch>
            <a:fillRect/>
          </a:stretch>
        </p:blipFill>
        <p:spPr>
          <a:xfrm>
            <a:off x="5047488" y="1207008"/>
            <a:ext cx="475488" cy="475488"/>
          </a:xfrm>
          <a:prstGeom prst="rect">
            <a:avLst/>
          </a:prstGeom>
        </p:spPr>
      </p:pic>
      <p:sp>
        <p:nvSpPr>
          <p:cNvPr id="13" name="Text 9"/>
          <p:cNvSpPr/>
          <p:nvPr/>
        </p:nvSpPr>
        <p:spPr>
          <a:xfrm>
            <a:off x="5715000" y="1124712"/>
            <a:ext cx="2971800" cy="548640"/>
          </a:xfrm>
          <a:prstGeom prst="rect">
            <a:avLst/>
          </a:prstGeom>
          <a:noFill/>
          <a:ln/>
        </p:spPr>
        <p:txBody>
          <a:bodyPr wrap="square" lIns="0" tIns="0" rIns="0" bIns="0" rtlCol="0" anchor="ctr"/>
          <a:lstStyle/>
          <a:p>
            <a:pPr marL="0" indent="0">
              <a:buNone/>
            </a:pPr>
            <a:r>
              <a:rPr lang="en-US" sz="2800" b="1" dirty="0">
                <a:solidFill>
                  <a:srgbClr val="FFC107"/>
                </a:solidFill>
                <a:latin typeface="Calibri" pitchFamily="34" charset="0"/>
                <a:ea typeface="Calibri" pitchFamily="34" charset="-122"/>
                <a:cs typeface="Calibri" pitchFamily="34" charset="-120"/>
              </a:rPr>
              <a:t>~9M</a:t>
            </a:r>
            <a:endParaRPr lang="en-US" sz="2800" dirty="0"/>
          </a:p>
        </p:txBody>
      </p:sp>
      <p:sp>
        <p:nvSpPr>
          <p:cNvPr id="14" name="Text 10"/>
          <p:cNvSpPr/>
          <p:nvPr/>
        </p:nvSpPr>
        <p:spPr>
          <a:xfrm>
            <a:off x="4965192" y="1783080"/>
            <a:ext cx="3703320" cy="731520"/>
          </a:xfrm>
          <a:prstGeom prst="rect">
            <a:avLst/>
          </a:prstGeom>
          <a:noFill/>
          <a:ln/>
        </p:spPr>
        <p:txBody>
          <a:bodyPr wrap="square" lIns="0" tIns="0" rIns="0" bIns="0" rtlCol="0" anchor="t"/>
          <a:lstStyle/>
          <a:p>
            <a:pPr marL="0" indent="0">
              <a:buNone/>
            </a:pPr>
            <a:r>
              <a:rPr lang="en-US" sz="1300" dirty="0">
                <a:solidFill>
                  <a:srgbClr val="E8F1FF"/>
                </a:solidFill>
                <a:latin typeface="Calibri" pitchFamily="34" charset="0"/>
                <a:ea typeface="Calibri" pitchFamily="34" charset="-122"/>
                <a:cs typeface="Calibri" pitchFamily="34" charset="-120"/>
              </a:rPr>
              <a:t>Tigrinya speakers in Ethiopia and Eritrea</a:t>
            </a:r>
            <a:endParaRPr lang="en-US" sz="1300" dirty="0"/>
          </a:p>
        </p:txBody>
      </p:sp>
      <p:sp>
        <p:nvSpPr>
          <p:cNvPr id="15" name="Shape 11"/>
          <p:cNvSpPr/>
          <p:nvPr/>
        </p:nvSpPr>
        <p:spPr>
          <a:xfrm>
            <a:off x="320040" y="2880360"/>
            <a:ext cx="4023360" cy="1691640"/>
          </a:xfrm>
          <a:prstGeom prst="rect">
            <a:avLst/>
          </a:prstGeom>
          <a:solidFill>
            <a:srgbClr val="0A1628"/>
          </a:solidFill>
          <a:ln/>
          <a:effectLst>
            <a:outerShdw blurRad="101600" dist="25400" dir="8100000" algn="bl" rotWithShape="0">
              <a:srgbClr val="000000">
                <a:alpha val="18000"/>
              </a:srgbClr>
            </a:outerShdw>
          </a:effectLst>
        </p:spPr>
        <p:txBody>
          <a:bodyPr/>
          <a:lstStyle/>
          <a:p>
            <a:endParaRPr lang="en-US" dirty="0"/>
          </a:p>
        </p:txBody>
      </p:sp>
      <p:sp>
        <p:nvSpPr>
          <p:cNvPr id="16" name="Shape 12"/>
          <p:cNvSpPr/>
          <p:nvPr/>
        </p:nvSpPr>
        <p:spPr>
          <a:xfrm>
            <a:off x="484632" y="3044952"/>
            <a:ext cx="640080" cy="640080"/>
          </a:xfrm>
          <a:prstGeom prst="line">
            <a:avLst/>
          </a:prstGeom>
          <a:solidFill>
            <a:srgbClr val="00B4D8"/>
          </a:solidFill>
          <a:ln w="12700">
            <a:solidFill>
              <a:srgbClr val="00B4D8"/>
            </a:solidFill>
            <a:prstDash val="solid"/>
          </a:ln>
        </p:spPr>
      </p:sp>
      <p:pic>
        <p:nvPicPr>
          <p:cNvPr id="17" name="Image 2" descr="preencoded.png"/>
          <p:cNvPicPr>
            <a:picLocks noChangeAspect="1"/>
          </p:cNvPicPr>
          <p:nvPr/>
        </p:nvPicPr>
        <p:blipFill>
          <a:blip r:embed="rId5"/>
          <a:stretch>
            <a:fillRect/>
          </a:stretch>
        </p:blipFill>
        <p:spPr>
          <a:xfrm>
            <a:off x="566928" y="3127248"/>
            <a:ext cx="475488" cy="475488"/>
          </a:xfrm>
          <a:prstGeom prst="rect">
            <a:avLst/>
          </a:prstGeom>
        </p:spPr>
      </p:pic>
      <p:sp>
        <p:nvSpPr>
          <p:cNvPr id="18" name="Text 13"/>
          <p:cNvSpPr/>
          <p:nvPr/>
        </p:nvSpPr>
        <p:spPr>
          <a:xfrm>
            <a:off x="1234440" y="3044952"/>
            <a:ext cx="2971800" cy="548640"/>
          </a:xfrm>
          <a:prstGeom prst="rect">
            <a:avLst/>
          </a:prstGeom>
          <a:noFill/>
          <a:ln/>
        </p:spPr>
        <p:txBody>
          <a:bodyPr wrap="square" lIns="0" tIns="0" rIns="0" bIns="0" rtlCol="0" anchor="ctr"/>
          <a:lstStyle/>
          <a:p>
            <a:pPr marL="0" indent="0">
              <a:buNone/>
            </a:pPr>
            <a:r>
              <a:rPr lang="en-US" sz="2800" b="1" dirty="0">
                <a:solidFill>
                  <a:srgbClr val="FFC107"/>
                </a:solidFill>
                <a:latin typeface="Calibri" pitchFamily="34" charset="0"/>
                <a:ea typeface="Calibri" pitchFamily="34" charset="-122"/>
                <a:cs typeface="Calibri" pitchFamily="34" charset="-120"/>
              </a:rPr>
              <a:t>0</a:t>
            </a:r>
            <a:endParaRPr lang="en-US" sz="2800" dirty="0"/>
          </a:p>
        </p:txBody>
      </p:sp>
      <p:sp>
        <p:nvSpPr>
          <p:cNvPr id="19" name="Text 14"/>
          <p:cNvSpPr/>
          <p:nvPr/>
        </p:nvSpPr>
        <p:spPr>
          <a:xfrm>
            <a:off x="484632" y="3703320"/>
            <a:ext cx="3703320" cy="731520"/>
          </a:xfrm>
          <a:prstGeom prst="rect">
            <a:avLst/>
          </a:prstGeom>
          <a:noFill/>
          <a:ln/>
        </p:spPr>
        <p:txBody>
          <a:bodyPr wrap="square" lIns="0" tIns="0" rIns="0" bIns="0" rtlCol="0" anchor="t"/>
          <a:lstStyle/>
          <a:p>
            <a:pPr marL="0" indent="0">
              <a:buNone/>
            </a:pPr>
            <a:r>
              <a:rPr lang="en-US" sz="1300" dirty="0">
                <a:solidFill>
                  <a:srgbClr val="E8F1FF"/>
                </a:solidFill>
                <a:latin typeface="Calibri" pitchFamily="34" charset="0"/>
                <a:ea typeface="Calibri" pitchFamily="34" charset="-122"/>
                <a:cs typeface="Calibri" pitchFamily="34" charset="-120"/>
              </a:rPr>
              <a:t>systematic ASR benchmarks across real-world conditions — until now</a:t>
            </a:r>
            <a:endParaRPr lang="en-US" sz="1300" dirty="0"/>
          </a:p>
        </p:txBody>
      </p:sp>
      <p:sp>
        <p:nvSpPr>
          <p:cNvPr id="20" name="Shape 15"/>
          <p:cNvSpPr/>
          <p:nvPr/>
        </p:nvSpPr>
        <p:spPr>
          <a:xfrm>
            <a:off x="4800600" y="2880360"/>
            <a:ext cx="4023360" cy="1691640"/>
          </a:xfrm>
          <a:prstGeom prst="rect">
            <a:avLst/>
          </a:prstGeom>
          <a:solidFill>
            <a:srgbClr val="0A1628"/>
          </a:solidFill>
          <a:ln/>
          <a:effectLst>
            <a:outerShdw blurRad="101600" dist="25400" dir="8100000" algn="bl" rotWithShape="0">
              <a:srgbClr val="000000">
                <a:alpha val="18000"/>
              </a:srgbClr>
            </a:outerShdw>
          </a:effectLst>
        </p:spPr>
      </p:sp>
      <p:sp>
        <p:nvSpPr>
          <p:cNvPr id="21" name="Shape 16"/>
          <p:cNvSpPr/>
          <p:nvPr/>
        </p:nvSpPr>
        <p:spPr>
          <a:xfrm>
            <a:off x="4965192" y="3044952"/>
            <a:ext cx="640080" cy="640080"/>
          </a:xfrm>
          <a:prstGeom prst="line">
            <a:avLst/>
          </a:prstGeom>
          <a:solidFill>
            <a:srgbClr val="00B4D8"/>
          </a:solidFill>
          <a:ln w="12700">
            <a:solidFill>
              <a:srgbClr val="00B4D8"/>
            </a:solidFill>
            <a:prstDash val="solid"/>
          </a:ln>
        </p:spPr>
      </p:sp>
      <p:pic>
        <p:nvPicPr>
          <p:cNvPr id="22" name="Image 3" descr="preencoded.png"/>
          <p:cNvPicPr>
            <a:picLocks noChangeAspect="1"/>
          </p:cNvPicPr>
          <p:nvPr/>
        </p:nvPicPr>
        <p:blipFill>
          <a:blip r:embed="rId6"/>
          <a:stretch>
            <a:fillRect/>
          </a:stretch>
        </p:blipFill>
        <p:spPr>
          <a:xfrm>
            <a:off x="5047488" y="3127248"/>
            <a:ext cx="475488" cy="475488"/>
          </a:xfrm>
          <a:prstGeom prst="rect">
            <a:avLst/>
          </a:prstGeom>
        </p:spPr>
      </p:pic>
      <p:sp>
        <p:nvSpPr>
          <p:cNvPr id="23" name="Text 17"/>
          <p:cNvSpPr/>
          <p:nvPr/>
        </p:nvSpPr>
        <p:spPr>
          <a:xfrm>
            <a:off x="5715000" y="3044952"/>
            <a:ext cx="2971800" cy="548640"/>
          </a:xfrm>
          <a:prstGeom prst="rect">
            <a:avLst/>
          </a:prstGeom>
          <a:noFill/>
          <a:ln/>
        </p:spPr>
        <p:txBody>
          <a:bodyPr wrap="square" lIns="0" tIns="0" rIns="0" bIns="0" rtlCol="0" anchor="ctr"/>
          <a:lstStyle/>
          <a:p>
            <a:pPr marL="0" indent="0">
              <a:buNone/>
            </a:pPr>
            <a:r>
              <a:rPr lang="en-US" sz="2800" b="1" dirty="0">
                <a:solidFill>
                  <a:srgbClr val="FFC107"/>
                </a:solidFill>
                <a:latin typeface="Calibri" pitchFamily="34" charset="0"/>
                <a:ea typeface="Calibri" pitchFamily="34" charset="-122"/>
                <a:cs typeface="Calibri" pitchFamily="34" charset="-120"/>
              </a:rPr>
              <a:t>36% WER</a:t>
            </a:r>
            <a:endParaRPr lang="en-US" sz="2800" dirty="0"/>
          </a:p>
        </p:txBody>
      </p:sp>
      <p:sp>
        <p:nvSpPr>
          <p:cNvPr id="24" name="Text 18"/>
          <p:cNvSpPr/>
          <p:nvPr/>
        </p:nvSpPr>
        <p:spPr>
          <a:xfrm>
            <a:off x="4965192" y="3703320"/>
            <a:ext cx="3703320" cy="731520"/>
          </a:xfrm>
          <a:prstGeom prst="rect">
            <a:avLst/>
          </a:prstGeom>
          <a:noFill/>
          <a:ln/>
        </p:spPr>
        <p:txBody>
          <a:bodyPr wrap="square" lIns="0" tIns="0" rIns="0" bIns="0" rtlCol="0" anchor="t"/>
          <a:lstStyle/>
          <a:p>
            <a:pPr marL="0" indent="0">
              <a:buNone/>
            </a:pPr>
            <a:r>
              <a:rPr lang="en-US" sz="1300" dirty="0">
                <a:solidFill>
                  <a:srgbClr val="E8F1FF"/>
                </a:solidFill>
                <a:latin typeface="Calibri" pitchFamily="34" charset="0"/>
                <a:ea typeface="Calibri" pitchFamily="34" charset="-122"/>
                <a:cs typeface="Calibri" pitchFamily="34" charset="-120"/>
              </a:rPr>
              <a:t>best published result — in a controlled studio only</a:t>
            </a:r>
            <a:endParaRPr lang="en-US" sz="1300" dirty="0"/>
          </a:p>
        </p:txBody>
      </p:sp>
      <p:sp>
        <p:nvSpPr>
          <p:cNvPr id="25" name="Text 19"/>
          <p:cNvSpPr/>
          <p:nvPr/>
        </p:nvSpPr>
        <p:spPr>
          <a:xfrm>
            <a:off x="320040" y="4727448"/>
            <a:ext cx="8503920" cy="320040"/>
          </a:xfrm>
          <a:prstGeom prst="rect">
            <a:avLst/>
          </a:prstGeom>
          <a:noFill/>
          <a:ln/>
        </p:spPr>
        <p:txBody>
          <a:bodyPr wrap="square" lIns="0" tIns="0" rIns="0" bIns="0" rtlCol="0" anchor="ctr"/>
          <a:lstStyle/>
          <a:p>
            <a:pPr marL="0" indent="0" algn="ctr">
              <a:buNone/>
            </a:pPr>
            <a:r>
              <a:rPr lang="en-US" sz="1300" i="1" dirty="0">
                <a:solidFill>
                  <a:srgbClr val="0A1628"/>
                </a:solidFill>
                <a:latin typeface="Calibri" pitchFamily="34" charset="0"/>
                <a:ea typeface="Calibri" pitchFamily="34" charset="-122"/>
                <a:cs typeface="Calibri" pitchFamily="34" charset="-120"/>
              </a:rPr>
              <a:t>Tigrinya media, courts, and communities need working ASR — and have no reliable benchmark.</a:t>
            </a:r>
            <a:endParaRPr lang="en-US" sz="1300" dirty="0"/>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What is ASR and Why?</a:t>
            </a:r>
            <a:endParaRPr lang="en-US" sz="2800" dirty="0"/>
          </a:p>
        </p:txBody>
      </p:sp>
      <p:sp>
        <p:nvSpPr>
          <p:cNvPr id="4" name="Shape 2"/>
          <p:cNvSpPr/>
          <p:nvPr/>
        </p:nvSpPr>
        <p:spPr>
          <a:xfrm>
            <a:off x="457200" y="886968"/>
            <a:ext cx="8229600" cy="22860"/>
          </a:xfrm>
          <a:prstGeom prst="rect">
            <a:avLst/>
          </a:prstGeom>
          <a:solidFill>
            <a:srgbClr val="00B4D8"/>
          </a:solidFill>
          <a:ln w="12700">
            <a:solidFill>
              <a:srgbClr val="00B4D8"/>
            </a:solidFill>
            <a:prstDash val="solid"/>
          </a:ln>
        </p:spPr>
      </p:sp>
      <p:sp>
        <p:nvSpPr>
          <p:cNvPr id="5" name="Shape 3"/>
          <p:cNvSpPr/>
          <p:nvPr/>
        </p:nvSpPr>
        <p:spPr>
          <a:xfrm>
            <a:off x="365760" y="1097280"/>
            <a:ext cx="2468880" cy="1463040"/>
          </a:xfrm>
          <a:prstGeom prst="rect">
            <a:avLst/>
          </a:prstGeom>
          <a:solidFill>
            <a:srgbClr val="0F2040"/>
          </a:solidFill>
          <a:ln/>
          <a:effectLst>
            <a:outerShdw blurRad="101600" dist="25400" dir="8100000" algn="bl" rotWithShape="0">
              <a:srgbClr val="000000">
                <a:alpha val="18000"/>
              </a:srgbClr>
            </a:outerShdw>
          </a:effectLst>
        </p:spPr>
      </p:sp>
      <p:sp>
        <p:nvSpPr>
          <p:cNvPr id="6" name="Shape 4"/>
          <p:cNvSpPr/>
          <p:nvPr/>
        </p:nvSpPr>
        <p:spPr>
          <a:xfrm>
            <a:off x="365760" y="1097280"/>
            <a:ext cx="2468880" cy="109728"/>
          </a:xfrm>
          <a:prstGeom prst="rect">
            <a:avLst/>
          </a:prstGeom>
          <a:solidFill>
            <a:srgbClr val="00B4D8"/>
          </a:solidFill>
          <a:ln w="12700">
            <a:solidFill>
              <a:srgbClr val="00B4D8"/>
            </a:solidFill>
            <a:prstDash val="solid"/>
          </a:ln>
        </p:spPr>
      </p:sp>
      <p:sp>
        <p:nvSpPr>
          <p:cNvPr id="7" name="Text 5"/>
          <p:cNvSpPr/>
          <p:nvPr/>
        </p:nvSpPr>
        <p:spPr>
          <a:xfrm>
            <a:off x="457200" y="1325880"/>
            <a:ext cx="228600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 Voice</a:t>
            </a:r>
            <a:endParaRPr lang="en-US" sz="2000" dirty="0"/>
          </a:p>
        </p:txBody>
      </p:sp>
      <p:sp>
        <p:nvSpPr>
          <p:cNvPr id="8" name="Text 6"/>
          <p:cNvSpPr/>
          <p:nvPr/>
        </p:nvSpPr>
        <p:spPr>
          <a:xfrm>
            <a:off x="457200" y="1874520"/>
            <a:ext cx="2286000" cy="502920"/>
          </a:xfrm>
          <a:prstGeom prst="rect">
            <a:avLst/>
          </a:prstGeom>
          <a:noFill/>
          <a:ln/>
        </p:spPr>
        <p:txBody>
          <a:bodyPr wrap="square" lIns="0" tIns="0" rIns="0" bIns="0" rtlCol="0" anchor="ctr"/>
          <a:lstStyle/>
          <a:p>
            <a:pPr marL="0" indent="0" algn="ctr">
              <a:buNone/>
            </a:pPr>
            <a:r>
              <a:rPr lang="en-US" sz="1300" dirty="0">
                <a:solidFill>
                  <a:srgbClr val="8899AA"/>
                </a:solidFill>
                <a:latin typeface="Calibri" pitchFamily="34" charset="0"/>
                <a:ea typeface="Calibri" pitchFamily="34" charset="-122"/>
                <a:cs typeface="Calibri" pitchFamily="34" charset="-120"/>
              </a:rPr>
              <a:t>Audio recording</a:t>
            </a:r>
            <a:endParaRPr lang="en-US" sz="1300" dirty="0"/>
          </a:p>
        </p:txBody>
      </p:sp>
      <p:sp>
        <p:nvSpPr>
          <p:cNvPr id="9" name="Text 7"/>
          <p:cNvSpPr/>
          <p:nvPr/>
        </p:nvSpPr>
        <p:spPr>
          <a:xfrm>
            <a:off x="2834640" y="1554480"/>
            <a:ext cx="411480" cy="548640"/>
          </a:xfrm>
          <a:prstGeom prst="rect">
            <a:avLst/>
          </a:prstGeom>
          <a:noFill/>
          <a:ln/>
        </p:spPr>
        <p:txBody>
          <a:bodyPr wrap="square" lIns="0" tIns="0" rIns="0" bIns="0" rtlCol="0" anchor="ctr"/>
          <a:lstStyle/>
          <a:p>
            <a:pPr marL="0" indent="0" algn="ctr">
              <a:buNone/>
            </a:pPr>
            <a:r>
              <a:rPr lang="en-US" sz="2800" b="1" dirty="0">
                <a:solidFill>
                  <a:srgbClr val="00B4D8"/>
                </a:solidFill>
                <a:latin typeface="Calibri" pitchFamily="34" charset="0"/>
                <a:ea typeface="Calibri" pitchFamily="34" charset="-122"/>
                <a:cs typeface="Calibri" pitchFamily="34" charset="-120"/>
              </a:rPr>
              <a:t>→</a:t>
            </a:r>
            <a:endParaRPr lang="en-US" sz="2800" dirty="0"/>
          </a:p>
        </p:txBody>
      </p:sp>
      <p:sp>
        <p:nvSpPr>
          <p:cNvPr id="10" name="Shape 8"/>
          <p:cNvSpPr/>
          <p:nvPr/>
        </p:nvSpPr>
        <p:spPr>
          <a:xfrm>
            <a:off x="3246120" y="1097280"/>
            <a:ext cx="2468880" cy="1463040"/>
          </a:xfrm>
          <a:prstGeom prst="rect">
            <a:avLst/>
          </a:prstGeom>
          <a:solidFill>
            <a:srgbClr val="0F2040"/>
          </a:solidFill>
          <a:ln/>
          <a:effectLst>
            <a:outerShdw blurRad="101600" dist="25400" dir="8100000" algn="bl" rotWithShape="0">
              <a:srgbClr val="000000">
                <a:alpha val="18000"/>
              </a:srgbClr>
            </a:outerShdw>
          </a:effectLst>
        </p:spPr>
      </p:sp>
      <p:sp>
        <p:nvSpPr>
          <p:cNvPr id="11" name="Shape 9"/>
          <p:cNvSpPr/>
          <p:nvPr/>
        </p:nvSpPr>
        <p:spPr>
          <a:xfrm>
            <a:off x="3246120" y="1097280"/>
            <a:ext cx="2468880" cy="109728"/>
          </a:xfrm>
          <a:prstGeom prst="rect">
            <a:avLst/>
          </a:prstGeom>
          <a:solidFill>
            <a:srgbClr val="FF6B35"/>
          </a:solidFill>
          <a:ln w="12700">
            <a:solidFill>
              <a:srgbClr val="FF6B35"/>
            </a:solidFill>
            <a:prstDash val="solid"/>
          </a:ln>
        </p:spPr>
      </p:sp>
      <p:sp>
        <p:nvSpPr>
          <p:cNvPr id="12" name="Text 10"/>
          <p:cNvSpPr/>
          <p:nvPr/>
        </p:nvSpPr>
        <p:spPr>
          <a:xfrm>
            <a:off x="3337560" y="1325880"/>
            <a:ext cx="228600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 ASR Engine</a:t>
            </a:r>
            <a:endParaRPr lang="en-US" sz="2000" dirty="0"/>
          </a:p>
        </p:txBody>
      </p:sp>
      <p:sp>
        <p:nvSpPr>
          <p:cNvPr id="13" name="Text 11"/>
          <p:cNvSpPr/>
          <p:nvPr/>
        </p:nvSpPr>
        <p:spPr>
          <a:xfrm>
            <a:off x="3337560" y="1874520"/>
            <a:ext cx="2286000" cy="502920"/>
          </a:xfrm>
          <a:prstGeom prst="rect">
            <a:avLst/>
          </a:prstGeom>
          <a:noFill/>
          <a:ln/>
        </p:spPr>
        <p:txBody>
          <a:bodyPr wrap="square" lIns="0" tIns="0" rIns="0" bIns="0" rtlCol="0" anchor="ctr"/>
          <a:lstStyle/>
          <a:p>
            <a:pPr marL="0" indent="0" algn="ctr">
              <a:buNone/>
            </a:pPr>
            <a:r>
              <a:rPr lang="en-US" sz="1300" dirty="0">
                <a:solidFill>
                  <a:srgbClr val="8899AA"/>
                </a:solidFill>
                <a:latin typeface="Calibri" pitchFamily="34" charset="0"/>
                <a:ea typeface="Calibri" pitchFamily="34" charset="-122"/>
                <a:cs typeface="Calibri" pitchFamily="34" charset="-120"/>
              </a:rPr>
              <a:t>Deep learning model</a:t>
            </a:r>
            <a:endParaRPr lang="en-US" sz="1300" dirty="0"/>
          </a:p>
        </p:txBody>
      </p:sp>
      <p:sp>
        <p:nvSpPr>
          <p:cNvPr id="14" name="Text 12"/>
          <p:cNvSpPr/>
          <p:nvPr/>
        </p:nvSpPr>
        <p:spPr>
          <a:xfrm>
            <a:off x="5715000" y="1554480"/>
            <a:ext cx="411480" cy="548640"/>
          </a:xfrm>
          <a:prstGeom prst="rect">
            <a:avLst/>
          </a:prstGeom>
          <a:noFill/>
          <a:ln/>
        </p:spPr>
        <p:txBody>
          <a:bodyPr wrap="square" lIns="0" tIns="0" rIns="0" bIns="0" rtlCol="0" anchor="ctr"/>
          <a:lstStyle/>
          <a:p>
            <a:pPr marL="0" indent="0" algn="ctr">
              <a:buNone/>
            </a:pPr>
            <a:r>
              <a:rPr lang="en-US" sz="2800" b="1" dirty="0">
                <a:solidFill>
                  <a:srgbClr val="00B4D8"/>
                </a:solidFill>
                <a:latin typeface="Calibri" pitchFamily="34" charset="0"/>
                <a:ea typeface="Calibri" pitchFamily="34" charset="-122"/>
                <a:cs typeface="Calibri" pitchFamily="34" charset="-120"/>
              </a:rPr>
              <a:t>→</a:t>
            </a:r>
            <a:endParaRPr lang="en-US" sz="2800" dirty="0"/>
          </a:p>
        </p:txBody>
      </p:sp>
      <p:sp>
        <p:nvSpPr>
          <p:cNvPr id="15" name="Shape 13"/>
          <p:cNvSpPr/>
          <p:nvPr/>
        </p:nvSpPr>
        <p:spPr>
          <a:xfrm>
            <a:off x="6126480" y="1097280"/>
            <a:ext cx="2468880" cy="1463040"/>
          </a:xfrm>
          <a:prstGeom prst="rect">
            <a:avLst/>
          </a:prstGeom>
          <a:solidFill>
            <a:srgbClr val="0F2040"/>
          </a:solidFill>
          <a:ln/>
          <a:effectLst>
            <a:outerShdw blurRad="101600" dist="25400" dir="8100000" algn="bl" rotWithShape="0">
              <a:srgbClr val="000000">
                <a:alpha val="18000"/>
              </a:srgbClr>
            </a:outerShdw>
          </a:effectLst>
        </p:spPr>
      </p:sp>
      <p:sp>
        <p:nvSpPr>
          <p:cNvPr id="16" name="Shape 14"/>
          <p:cNvSpPr/>
          <p:nvPr/>
        </p:nvSpPr>
        <p:spPr>
          <a:xfrm>
            <a:off x="6126480" y="1097280"/>
            <a:ext cx="2468880" cy="109728"/>
          </a:xfrm>
          <a:prstGeom prst="rect">
            <a:avLst/>
          </a:prstGeom>
          <a:solidFill>
            <a:srgbClr val="00C853"/>
          </a:solidFill>
          <a:ln w="12700">
            <a:solidFill>
              <a:srgbClr val="00C853"/>
            </a:solidFill>
            <a:prstDash val="solid"/>
          </a:ln>
        </p:spPr>
      </p:sp>
      <p:sp>
        <p:nvSpPr>
          <p:cNvPr id="17" name="Text 15"/>
          <p:cNvSpPr/>
          <p:nvPr/>
        </p:nvSpPr>
        <p:spPr>
          <a:xfrm>
            <a:off x="6217920" y="1325880"/>
            <a:ext cx="228600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 Text</a:t>
            </a:r>
            <a:endParaRPr lang="en-US" sz="2000" dirty="0"/>
          </a:p>
        </p:txBody>
      </p:sp>
      <p:sp>
        <p:nvSpPr>
          <p:cNvPr id="18" name="Text 16"/>
          <p:cNvSpPr/>
          <p:nvPr/>
        </p:nvSpPr>
        <p:spPr>
          <a:xfrm>
            <a:off x="6217920" y="1874520"/>
            <a:ext cx="2286000" cy="502920"/>
          </a:xfrm>
          <a:prstGeom prst="rect">
            <a:avLst/>
          </a:prstGeom>
          <a:noFill/>
          <a:ln/>
        </p:spPr>
        <p:txBody>
          <a:bodyPr wrap="square" lIns="0" tIns="0" rIns="0" bIns="0" rtlCol="0" anchor="ctr"/>
          <a:lstStyle/>
          <a:p>
            <a:pPr marL="0" indent="0" algn="ctr">
              <a:buNone/>
            </a:pPr>
            <a:r>
              <a:rPr lang="en-US" sz="1300" dirty="0">
                <a:solidFill>
                  <a:srgbClr val="8899AA"/>
                </a:solidFill>
                <a:latin typeface="Calibri" pitchFamily="34" charset="0"/>
                <a:ea typeface="Calibri" pitchFamily="34" charset="-122"/>
                <a:cs typeface="Calibri" pitchFamily="34" charset="-120"/>
              </a:rPr>
              <a:t>Transcript output</a:t>
            </a:r>
            <a:endParaRPr lang="en-US" sz="1300" dirty="0"/>
          </a:p>
        </p:txBody>
      </p:sp>
      <p:pic>
        <p:nvPicPr>
          <p:cNvPr id="19" name="Image 0" descr="preencoded.png"/>
          <p:cNvPicPr>
            <a:picLocks noChangeAspect="1"/>
          </p:cNvPicPr>
          <p:nvPr/>
        </p:nvPicPr>
        <p:blipFill>
          <a:blip r:embed="rId3"/>
          <a:stretch>
            <a:fillRect/>
          </a:stretch>
        </p:blipFill>
        <p:spPr>
          <a:xfrm>
            <a:off x="365760" y="2971800"/>
            <a:ext cx="320040" cy="320040"/>
          </a:xfrm>
          <a:prstGeom prst="rect">
            <a:avLst/>
          </a:prstGeom>
        </p:spPr>
      </p:pic>
      <p:sp>
        <p:nvSpPr>
          <p:cNvPr id="20" name="Text 17"/>
          <p:cNvSpPr/>
          <p:nvPr/>
        </p:nvSpPr>
        <p:spPr>
          <a:xfrm>
            <a:off x="777240" y="2834640"/>
            <a:ext cx="393192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Speech → Text</a:t>
            </a:r>
            <a:endParaRPr lang="en-US" sz="1500" dirty="0"/>
          </a:p>
        </p:txBody>
      </p:sp>
      <p:sp>
        <p:nvSpPr>
          <p:cNvPr id="21" name="Text 18"/>
          <p:cNvSpPr/>
          <p:nvPr/>
        </p:nvSpPr>
        <p:spPr>
          <a:xfrm>
            <a:off x="777240" y="3182112"/>
            <a:ext cx="3931920" cy="502920"/>
          </a:xfrm>
          <a:prstGeom prst="rect">
            <a:avLst/>
          </a:prstGeom>
          <a:noFill/>
          <a:ln/>
        </p:spPr>
        <p:txBody>
          <a:bodyPr wrap="square" lIns="0" tIns="0" rIns="0" bIns="0" rtlCol="0" anchor="ctr"/>
          <a:lstStyle/>
          <a:p>
            <a:pPr marL="0" indent="0">
              <a:buNone/>
            </a:pPr>
            <a:r>
              <a:rPr lang="en-US" sz="1300" dirty="0">
                <a:solidFill>
                  <a:srgbClr val="8899AA"/>
                </a:solidFill>
                <a:latin typeface="Calibri" pitchFamily="34" charset="0"/>
                <a:ea typeface="Calibri" pitchFamily="34" charset="-122"/>
                <a:cs typeface="Calibri" pitchFamily="34" charset="-120"/>
              </a:rPr>
              <a:t>Converts spoken words into written transcript automatically</a:t>
            </a:r>
            <a:endParaRPr lang="en-US" sz="1300" dirty="0"/>
          </a:p>
        </p:txBody>
      </p:sp>
      <p:pic>
        <p:nvPicPr>
          <p:cNvPr id="22" name="Image 1" descr="preencoded.png"/>
          <p:cNvPicPr>
            <a:picLocks noChangeAspect="1"/>
          </p:cNvPicPr>
          <p:nvPr/>
        </p:nvPicPr>
        <p:blipFill>
          <a:blip r:embed="rId4"/>
          <a:stretch>
            <a:fillRect/>
          </a:stretch>
        </p:blipFill>
        <p:spPr>
          <a:xfrm>
            <a:off x="4846320" y="2971800"/>
            <a:ext cx="320040" cy="320040"/>
          </a:xfrm>
          <a:prstGeom prst="rect">
            <a:avLst/>
          </a:prstGeom>
        </p:spPr>
      </p:pic>
      <p:sp>
        <p:nvSpPr>
          <p:cNvPr id="23" name="Text 19"/>
          <p:cNvSpPr/>
          <p:nvPr/>
        </p:nvSpPr>
        <p:spPr>
          <a:xfrm>
            <a:off x="5257800" y="2834640"/>
            <a:ext cx="393192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Transformative Impact</a:t>
            </a:r>
            <a:endParaRPr lang="en-US" sz="1500" dirty="0"/>
          </a:p>
        </p:txBody>
      </p:sp>
      <p:sp>
        <p:nvSpPr>
          <p:cNvPr id="24" name="Text 20"/>
          <p:cNvSpPr/>
          <p:nvPr/>
        </p:nvSpPr>
        <p:spPr>
          <a:xfrm>
            <a:off x="5257800" y="3182112"/>
            <a:ext cx="3931920" cy="502920"/>
          </a:xfrm>
          <a:prstGeom prst="rect">
            <a:avLst/>
          </a:prstGeom>
          <a:noFill/>
          <a:ln/>
        </p:spPr>
        <p:txBody>
          <a:bodyPr wrap="square" lIns="0" tIns="0" rIns="0" bIns="0" rtlCol="0" anchor="ctr"/>
          <a:lstStyle/>
          <a:p>
            <a:pPr marL="0" indent="0">
              <a:buNone/>
            </a:pPr>
            <a:r>
              <a:rPr lang="en-US" sz="1300" dirty="0">
                <a:solidFill>
                  <a:srgbClr val="8899AA"/>
                </a:solidFill>
                <a:latin typeface="Calibri" pitchFamily="34" charset="0"/>
                <a:ea typeface="Calibri" pitchFamily="34" charset="-122"/>
                <a:cs typeface="Calibri" pitchFamily="34" charset="-120"/>
              </a:rPr>
              <a:t>Enables literacy-independent access to services</a:t>
            </a:r>
            <a:endParaRPr lang="en-US" sz="1300" dirty="0"/>
          </a:p>
        </p:txBody>
      </p:sp>
      <p:pic>
        <p:nvPicPr>
          <p:cNvPr id="25" name="Image 2" descr="preencoded.png"/>
          <p:cNvPicPr>
            <a:picLocks noChangeAspect="1"/>
          </p:cNvPicPr>
          <p:nvPr/>
        </p:nvPicPr>
        <p:blipFill>
          <a:blip r:embed="rId5"/>
          <a:stretch>
            <a:fillRect/>
          </a:stretch>
        </p:blipFill>
        <p:spPr>
          <a:xfrm>
            <a:off x="365760" y="3977640"/>
            <a:ext cx="320040" cy="320040"/>
          </a:xfrm>
          <a:prstGeom prst="rect">
            <a:avLst/>
          </a:prstGeom>
        </p:spPr>
      </p:pic>
      <p:sp>
        <p:nvSpPr>
          <p:cNvPr id="26" name="Text 21"/>
          <p:cNvSpPr/>
          <p:nvPr/>
        </p:nvSpPr>
        <p:spPr>
          <a:xfrm>
            <a:off x="777240" y="3840480"/>
            <a:ext cx="393192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Courts &amp; Media</a:t>
            </a:r>
            <a:endParaRPr lang="en-US" sz="1500" dirty="0"/>
          </a:p>
        </p:txBody>
      </p:sp>
      <p:sp>
        <p:nvSpPr>
          <p:cNvPr id="27" name="Text 22"/>
          <p:cNvSpPr/>
          <p:nvPr/>
        </p:nvSpPr>
        <p:spPr>
          <a:xfrm>
            <a:off x="777240" y="4187952"/>
            <a:ext cx="3931920" cy="502920"/>
          </a:xfrm>
          <a:prstGeom prst="rect">
            <a:avLst/>
          </a:prstGeom>
          <a:noFill/>
          <a:ln/>
        </p:spPr>
        <p:txBody>
          <a:bodyPr wrap="square" lIns="0" tIns="0" rIns="0" bIns="0" rtlCol="0" anchor="ctr"/>
          <a:lstStyle/>
          <a:p>
            <a:pPr marL="0" indent="0">
              <a:buNone/>
            </a:pPr>
            <a:r>
              <a:rPr lang="en-US" sz="1300" dirty="0">
                <a:solidFill>
                  <a:srgbClr val="8899AA"/>
                </a:solidFill>
                <a:latin typeface="Calibri" pitchFamily="34" charset="0"/>
                <a:ea typeface="Calibri" pitchFamily="34" charset="-122"/>
                <a:cs typeface="Calibri" pitchFamily="34" charset="-120"/>
              </a:rPr>
              <a:t>Reduces 8-hour transcription to near real-time</a:t>
            </a:r>
            <a:endParaRPr lang="en-US" sz="1300" dirty="0"/>
          </a:p>
        </p:txBody>
      </p:sp>
      <p:pic>
        <p:nvPicPr>
          <p:cNvPr id="28" name="Image 3" descr="preencoded.png"/>
          <p:cNvPicPr>
            <a:picLocks noChangeAspect="1"/>
          </p:cNvPicPr>
          <p:nvPr/>
        </p:nvPicPr>
        <p:blipFill>
          <a:blip r:embed="rId6"/>
          <a:stretch>
            <a:fillRect/>
          </a:stretch>
        </p:blipFill>
        <p:spPr>
          <a:xfrm>
            <a:off x="4846320" y="3977640"/>
            <a:ext cx="320040" cy="320040"/>
          </a:xfrm>
          <a:prstGeom prst="rect">
            <a:avLst/>
          </a:prstGeom>
        </p:spPr>
      </p:pic>
      <p:sp>
        <p:nvSpPr>
          <p:cNvPr id="29" name="Text 23"/>
          <p:cNvSpPr/>
          <p:nvPr/>
        </p:nvSpPr>
        <p:spPr>
          <a:xfrm>
            <a:off x="5257800" y="3840480"/>
            <a:ext cx="393192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Accessibility</a:t>
            </a:r>
            <a:endParaRPr lang="en-US" sz="1500" dirty="0"/>
          </a:p>
        </p:txBody>
      </p:sp>
      <p:sp>
        <p:nvSpPr>
          <p:cNvPr id="30" name="Text 24"/>
          <p:cNvSpPr/>
          <p:nvPr/>
        </p:nvSpPr>
        <p:spPr>
          <a:xfrm>
            <a:off x="5257800" y="4187952"/>
            <a:ext cx="3931920" cy="502920"/>
          </a:xfrm>
          <a:prstGeom prst="rect">
            <a:avLst/>
          </a:prstGeom>
          <a:noFill/>
          <a:ln/>
        </p:spPr>
        <p:txBody>
          <a:bodyPr wrap="square" lIns="0" tIns="0" rIns="0" bIns="0" rtlCol="0" anchor="ctr"/>
          <a:lstStyle/>
          <a:p>
            <a:pPr marL="0" indent="0">
              <a:buNone/>
            </a:pPr>
            <a:r>
              <a:rPr lang="en-US" sz="1300" dirty="0">
                <a:solidFill>
                  <a:srgbClr val="8899AA"/>
                </a:solidFill>
                <a:latin typeface="Calibri" pitchFamily="34" charset="0"/>
                <a:ea typeface="Calibri" pitchFamily="34" charset="-122"/>
                <a:cs typeface="Calibri" pitchFamily="34" charset="-120"/>
              </a:rPr>
              <a:t>Gives voice to disabled and illiterate users</a:t>
            </a:r>
            <a:endParaRPr lang="en-US" sz="1300" dirty="0"/>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1628"/>
          </a:solidFill>
          <a:ln w="12700">
            <a:solidFill>
              <a:srgbClr val="0A1628"/>
            </a:solidFill>
            <a:prstDash val="solid"/>
          </a:ln>
        </p:spPr>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800" b="1" dirty="0">
                <a:solidFill>
                  <a:srgbClr val="0A1628"/>
                </a:solidFill>
                <a:latin typeface="Calibri" pitchFamily="34" charset="0"/>
                <a:ea typeface="Calibri" pitchFamily="34" charset="-122"/>
                <a:cs typeface="Calibri" pitchFamily="34" charset="-120"/>
              </a:rPr>
              <a:t>Tigrinya ASR: The Gap Is Massive</a:t>
            </a:r>
            <a:endParaRPr lang="en-US" sz="2800" dirty="0"/>
          </a:p>
        </p:txBody>
      </p:sp>
      <p:sp>
        <p:nvSpPr>
          <p:cNvPr id="4" name="Shape 2"/>
          <p:cNvSpPr/>
          <p:nvPr/>
        </p:nvSpPr>
        <p:spPr>
          <a:xfrm>
            <a:off x="457200" y="886968"/>
            <a:ext cx="8229600" cy="22860"/>
          </a:xfrm>
          <a:prstGeom prst="rect">
            <a:avLst/>
          </a:prstGeom>
          <a:solidFill>
            <a:srgbClr val="00B4D8"/>
          </a:solidFill>
          <a:ln w="12700">
            <a:solidFill>
              <a:srgbClr val="00B4D8"/>
            </a:solidFill>
            <a:prstDash val="solid"/>
          </a:ln>
        </p:spPr>
      </p:sp>
      <p:graphicFrame>
        <p:nvGraphicFramePr>
          <p:cNvPr id="5" name="Chart 0"/>
          <p:cNvGraphicFramePr/>
          <p:nvPr>
            <p:extLst>
              <p:ext uri="{D42A27DB-BD31-4B8C-83A1-F6EECF244321}">
                <p14:modId xmlns:p14="http://schemas.microsoft.com/office/powerpoint/2010/main" val="2943003857"/>
              </p:ext>
            </p:extLst>
          </p:nvPr>
        </p:nvGraphicFramePr>
        <p:xfrm>
          <a:off x="365760" y="1005840"/>
          <a:ext cx="50292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669280" y="1005840"/>
            <a:ext cx="3246120" cy="1115568"/>
          </a:xfrm>
          <a:prstGeom prst="rect">
            <a:avLst/>
          </a:prstGeom>
          <a:solidFill>
            <a:srgbClr val="0A1628"/>
          </a:solidFill>
          <a:ln/>
          <a:effectLst>
            <a:outerShdw blurRad="101600" dist="25400" dir="8100000" algn="bl" rotWithShape="0">
              <a:srgbClr val="000000">
                <a:alpha val="18000"/>
              </a:srgbClr>
            </a:outerShdw>
          </a:effectLst>
        </p:spPr>
      </p:sp>
      <p:sp>
        <p:nvSpPr>
          <p:cNvPr id="7" name="Shape 4"/>
          <p:cNvSpPr/>
          <p:nvPr/>
        </p:nvSpPr>
        <p:spPr>
          <a:xfrm>
            <a:off x="5779008" y="1207008"/>
            <a:ext cx="502920" cy="502920"/>
          </a:xfrm>
          <a:prstGeom prst="line">
            <a:avLst/>
          </a:prstGeom>
          <a:solidFill>
            <a:srgbClr val="00B4D8"/>
          </a:solidFill>
          <a:ln w="12700">
            <a:solidFill>
              <a:srgbClr val="00B4D8"/>
            </a:solidFill>
            <a:prstDash val="solid"/>
          </a:ln>
        </p:spPr>
      </p:sp>
      <p:pic>
        <p:nvPicPr>
          <p:cNvPr id="8" name="Image 0" descr="preencoded.png"/>
          <p:cNvPicPr>
            <a:picLocks noChangeAspect="1"/>
          </p:cNvPicPr>
          <p:nvPr/>
        </p:nvPicPr>
        <p:blipFill>
          <a:blip r:embed="rId4"/>
          <a:stretch>
            <a:fillRect/>
          </a:stretch>
        </p:blipFill>
        <p:spPr>
          <a:xfrm>
            <a:off x="5852160" y="1280160"/>
            <a:ext cx="347472" cy="347472"/>
          </a:xfrm>
          <a:prstGeom prst="rect">
            <a:avLst/>
          </a:prstGeom>
        </p:spPr>
      </p:pic>
      <p:sp>
        <p:nvSpPr>
          <p:cNvPr id="9" name="Text 5"/>
          <p:cNvSpPr/>
          <p:nvPr/>
        </p:nvSpPr>
        <p:spPr>
          <a:xfrm>
            <a:off x="6400800" y="1097280"/>
            <a:ext cx="237744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Claimed Support</a:t>
            </a:r>
            <a:endParaRPr lang="en-US" sz="1400" dirty="0"/>
          </a:p>
        </p:txBody>
      </p:sp>
      <p:sp>
        <p:nvSpPr>
          <p:cNvPr id="10" name="Text 6"/>
          <p:cNvSpPr/>
          <p:nvPr/>
        </p:nvSpPr>
        <p:spPr>
          <a:xfrm>
            <a:off x="5779008" y="1517904"/>
            <a:ext cx="3017520" cy="54864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Google, Meta MMS, Whisper — all list Tigrinya. None tested under real conditions.</a:t>
            </a:r>
            <a:endParaRPr lang="en-US" sz="1200" dirty="0"/>
          </a:p>
        </p:txBody>
      </p:sp>
      <p:sp>
        <p:nvSpPr>
          <p:cNvPr id="11" name="Shape 7"/>
          <p:cNvSpPr/>
          <p:nvPr/>
        </p:nvSpPr>
        <p:spPr>
          <a:xfrm>
            <a:off x="5669280" y="2286000"/>
            <a:ext cx="3246120" cy="1115568"/>
          </a:xfrm>
          <a:prstGeom prst="rect">
            <a:avLst/>
          </a:prstGeom>
          <a:solidFill>
            <a:srgbClr val="0A1628"/>
          </a:solidFill>
          <a:ln/>
          <a:effectLst>
            <a:outerShdw blurRad="101600" dist="25400" dir="8100000" algn="bl" rotWithShape="0">
              <a:srgbClr val="000000">
                <a:alpha val="18000"/>
              </a:srgbClr>
            </a:outerShdw>
          </a:effectLst>
        </p:spPr>
        <p:txBody>
          <a:bodyPr/>
          <a:lstStyle/>
          <a:p>
            <a:endParaRPr lang="en-US" dirty="0"/>
          </a:p>
        </p:txBody>
      </p:sp>
      <p:sp>
        <p:nvSpPr>
          <p:cNvPr id="12" name="Shape 8"/>
          <p:cNvSpPr/>
          <p:nvPr/>
        </p:nvSpPr>
        <p:spPr>
          <a:xfrm>
            <a:off x="5779008" y="2487168"/>
            <a:ext cx="502920" cy="502920"/>
          </a:xfrm>
          <a:prstGeom prst="line">
            <a:avLst/>
          </a:prstGeom>
          <a:solidFill>
            <a:srgbClr val="FF6B35"/>
          </a:solidFill>
          <a:ln w="12700">
            <a:solidFill>
              <a:srgbClr val="FF6B35"/>
            </a:solidFill>
            <a:prstDash val="solid"/>
          </a:ln>
        </p:spPr>
      </p:sp>
      <p:pic>
        <p:nvPicPr>
          <p:cNvPr id="13" name="Image 1" descr="preencoded.png"/>
          <p:cNvPicPr>
            <a:picLocks noChangeAspect="1"/>
          </p:cNvPicPr>
          <p:nvPr/>
        </p:nvPicPr>
        <p:blipFill>
          <a:blip r:embed="rId5"/>
          <a:stretch>
            <a:fillRect/>
          </a:stretch>
        </p:blipFill>
        <p:spPr>
          <a:xfrm>
            <a:off x="5852160" y="2560320"/>
            <a:ext cx="347472" cy="347472"/>
          </a:xfrm>
          <a:prstGeom prst="rect">
            <a:avLst/>
          </a:prstGeom>
        </p:spPr>
      </p:pic>
      <p:sp>
        <p:nvSpPr>
          <p:cNvPr id="14" name="Text 9"/>
          <p:cNvSpPr/>
          <p:nvPr/>
        </p:nvSpPr>
        <p:spPr>
          <a:xfrm>
            <a:off x="6400800" y="2377440"/>
            <a:ext cx="237744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Best Known Result</a:t>
            </a:r>
            <a:endParaRPr lang="en-US" sz="1400" dirty="0"/>
          </a:p>
        </p:txBody>
      </p:sp>
      <p:sp>
        <p:nvSpPr>
          <p:cNvPr id="15" name="Text 10"/>
          <p:cNvSpPr/>
          <p:nvPr/>
        </p:nvSpPr>
        <p:spPr>
          <a:xfrm>
            <a:off x="5779008" y="2798064"/>
            <a:ext cx="3017520" cy="54864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36% WER in a controlled studio. No data on noise, dialects, or demographics.</a:t>
            </a:r>
            <a:endParaRPr lang="en-US" sz="1200" dirty="0"/>
          </a:p>
        </p:txBody>
      </p:sp>
      <p:sp>
        <p:nvSpPr>
          <p:cNvPr id="16" name="Shape 11"/>
          <p:cNvSpPr/>
          <p:nvPr/>
        </p:nvSpPr>
        <p:spPr>
          <a:xfrm>
            <a:off x="5664708" y="3639312"/>
            <a:ext cx="3246120" cy="1115568"/>
          </a:xfrm>
          <a:prstGeom prst="rect">
            <a:avLst/>
          </a:prstGeom>
          <a:solidFill>
            <a:srgbClr val="0A1628"/>
          </a:solidFill>
          <a:ln/>
          <a:effectLst>
            <a:outerShdw blurRad="101600" dist="25400" dir="8100000" algn="bl" rotWithShape="0">
              <a:srgbClr val="000000">
                <a:alpha val="18000"/>
              </a:srgbClr>
            </a:outerShdw>
          </a:effectLst>
        </p:spPr>
      </p:sp>
      <p:sp>
        <p:nvSpPr>
          <p:cNvPr id="17" name="Shape 12"/>
          <p:cNvSpPr/>
          <p:nvPr/>
        </p:nvSpPr>
        <p:spPr>
          <a:xfrm>
            <a:off x="5779008" y="3767328"/>
            <a:ext cx="502920" cy="502920"/>
          </a:xfrm>
          <a:prstGeom prst="line">
            <a:avLst/>
          </a:prstGeom>
          <a:solidFill>
            <a:srgbClr val="E53935"/>
          </a:solidFill>
          <a:ln w="12700">
            <a:solidFill>
              <a:srgbClr val="E53935"/>
            </a:solidFill>
            <a:prstDash val="solid"/>
          </a:ln>
        </p:spPr>
      </p:sp>
      <p:pic>
        <p:nvPicPr>
          <p:cNvPr id="18" name="Image 2" descr="preencoded.png"/>
          <p:cNvPicPr>
            <a:picLocks noChangeAspect="1"/>
          </p:cNvPicPr>
          <p:nvPr/>
        </p:nvPicPr>
        <p:blipFill>
          <a:blip r:embed="rId6"/>
          <a:stretch>
            <a:fillRect/>
          </a:stretch>
        </p:blipFill>
        <p:spPr>
          <a:xfrm>
            <a:off x="5852160" y="3840480"/>
            <a:ext cx="347472" cy="347472"/>
          </a:xfrm>
          <a:prstGeom prst="rect">
            <a:avLst/>
          </a:prstGeom>
        </p:spPr>
      </p:pic>
      <p:sp>
        <p:nvSpPr>
          <p:cNvPr id="19" name="Text 13"/>
          <p:cNvSpPr/>
          <p:nvPr/>
        </p:nvSpPr>
        <p:spPr>
          <a:xfrm>
            <a:off x="6400800" y="3657600"/>
            <a:ext cx="237744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Data Scarcity</a:t>
            </a:r>
            <a:endParaRPr lang="en-US" sz="1400" dirty="0"/>
          </a:p>
        </p:txBody>
      </p:sp>
      <p:sp>
        <p:nvSpPr>
          <p:cNvPr id="20" name="Text 14"/>
          <p:cNvSpPr/>
          <p:nvPr/>
        </p:nvSpPr>
        <p:spPr>
          <a:xfrm>
            <a:off x="5779008" y="4078224"/>
            <a:ext cx="3017520" cy="54864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Limited publicly available datasets, lack of standardized benchmarks, and a very few systematic real-world evaluations.</a:t>
            </a:r>
            <a:endParaRPr lang="en-US" sz="1200" dirty="0"/>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6B35"/>
          </a:solidFill>
          <a:ln w="12700">
            <a:solidFill>
              <a:srgbClr val="FF6B35"/>
            </a:solidFill>
            <a:prstDash val="solid"/>
          </a:ln>
        </p:spPr>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Why Tigrinya Is Hard for ASR</a:t>
            </a:r>
            <a:endParaRPr lang="en-US" sz="2800" dirty="0"/>
          </a:p>
        </p:txBody>
      </p:sp>
      <p:sp>
        <p:nvSpPr>
          <p:cNvPr id="4" name="Shape 2"/>
          <p:cNvSpPr/>
          <p:nvPr/>
        </p:nvSpPr>
        <p:spPr>
          <a:xfrm>
            <a:off x="457200" y="886968"/>
            <a:ext cx="8229600" cy="22860"/>
          </a:xfrm>
          <a:prstGeom prst="rect">
            <a:avLst/>
          </a:prstGeom>
          <a:solidFill>
            <a:srgbClr val="00B4D8"/>
          </a:solidFill>
          <a:ln w="12700">
            <a:solidFill>
              <a:srgbClr val="00B4D8"/>
            </a:solidFill>
            <a:prstDash val="solid"/>
          </a:ln>
        </p:spPr>
      </p:sp>
      <p:sp>
        <p:nvSpPr>
          <p:cNvPr id="5" name="Shape 3"/>
          <p:cNvSpPr/>
          <p:nvPr/>
        </p:nvSpPr>
        <p:spPr>
          <a:xfrm>
            <a:off x="274320" y="1005840"/>
            <a:ext cx="4023360" cy="1143000"/>
          </a:xfrm>
          <a:prstGeom prst="rect">
            <a:avLst/>
          </a:prstGeom>
          <a:solidFill>
            <a:srgbClr val="0F2040"/>
          </a:solidFill>
          <a:ln/>
          <a:effectLst>
            <a:outerShdw blurRad="101600" dist="25400" dir="8100000" algn="bl" rotWithShape="0">
              <a:srgbClr val="000000">
                <a:alpha val="18000"/>
              </a:srgbClr>
            </a:outerShdw>
          </a:effectLst>
        </p:spPr>
        <p:txBody>
          <a:bodyPr/>
          <a:lstStyle/>
          <a:p>
            <a:endParaRPr lang="en-US" dirty="0"/>
          </a:p>
        </p:txBody>
      </p:sp>
      <p:sp>
        <p:nvSpPr>
          <p:cNvPr id="6" name="Shape 4"/>
          <p:cNvSpPr/>
          <p:nvPr/>
        </p:nvSpPr>
        <p:spPr>
          <a:xfrm>
            <a:off x="411480" y="1280160"/>
            <a:ext cx="502920" cy="502920"/>
          </a:xfrm>
          <a:prstGeom prst="line">
            <a:avLst/>
          </a:prstGeom>
          <a:solidFill>
            <a:srgbClr val="00B4D8"/>
          </a:solidFill>
          <a:ln w="12700">
            <a:solidFill>
              <a:srgbClr val="00B4D8"/>
            </a:solidFill>
            <a:prstDash val="solid"/>
          </a:ln>
        </p:spPr>
      </p:sp>
      <p:pic>
        <p:nvPicPr>
          <p:cNvPr id="7" name="Image 0" descr="preencoded.png"/>
          <p:cNvPicPr>
            <a:picLocks noChangeAspect="1"/>
          </p:cNvPicPr>
          <p:nvPr/>
        </p:nvPicPr>
        <p:blipFill>
          <a:blip r:embed="rId3"/>
          <a:stretch>
            <a:fillRect/>
          </a:stretch>
        </p:blipFill>
        <p:spPr>
          <a:xfrm>
            <a:off x="484632" y="1353312"/>
            <a:ext cx="347472" cy="347472"/>
          </a:xfrm>
          <a:prstGeom prst="rect">
            <a:avLst/>
          </a:prstGeom>
        </p:spPr>
      </p:pic>
      <p:sp>
        <p:nvSpPr>
          <p:cNvPr id="8" name="Text 5"/>
          <p:cNvSpPr/>
          <p:nvPr/>
        </p:nvSpPr>
        <p:spPr>
          <a:xfrm>
            <a:off x="1051560" y="1097280"/>
            <a:ext cx="310896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Morphological Richness</a:t>
            </a:r>
            <a:endParaRPr lang="en-US" sz="1400" dirty="0"/>
          </a:p>
        </p:txBody>
      </p:sp>
      <p:sp>
        <p:nvSpPr>
          <p:cNvPr id="9" name="Text 6"/>
          <p:cNvSpPr/>
          <p:nvPr/>
        </p:nvSpPr>
        <p:spPr>
          <a:xfrm>
            <a:off x="1051560" y="1481328"/>
            <a:ext cx="3108960" cy="59436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Heavy affixation — one root word becomes dozens of forms. Standard tokenizers fail.</a:t>
            </a:r>
            <a:endParaRPr lang="en-US" sz="1200" dirty="0"/>
          </a:p>
        </p:txBody>
      </p:sp>
      <p:sp>
        <p:nvSpPr>
          <p:cNvPr id="10" name="Shape 7"/>
          <p:cNvSpPr/>
          <p:nvPr/>
        </p:nvSpPr>
        <p:spPr>
          <a:xfrm>
            <a:off x="4709160" y="1005840"/>
            <a:ext cx="4023360" cy="1143000"/>
          </a:xfrm>
          <a:prstGeom prst="rect">
            <a:avLst/>
          </a:prstGeom>
          <a:solidFill>
            <a:srgbClr val="0F2040"/>
          </a:solidFill>
          <a:ln/>
          <a:effectLst>
            <a:outerShdw blurRad="101600" dist="25400" dir="8100000" algn="bl" rotWithShape="0">
              <a:srgbClr val="000000">
                <a:alpha val="18000"/>
              </a:srgbClr>
            </a:outerShdw>
          </a:effectLst>
        </p:spPr>
      </p:sp>
      <p:sp>
        <p:nvSpPr>
          <p:cNvPr id="11" name="Shape 8"/>
          <p:cNvSpPr/>
          <p:nvPr/>
        </p:nvSpPr>
        <p:spPr>
          <a:xfrm>
            <a:off x="4846320" y="1280160"/>
            <a:ext cx="502920" cy="502920"/>
          </a:xfrm>
          <a:prstGeom prst="line">
            <a:avLst/>
          </a:prstGeom>
          <a:solidFill>
            <a:srgbClr val="FF6B35"/>
          </a:solidFill>
          <a:ln w="12700">
            <a:solidFill>
              <a:srgbClr val="FF6B35"/>
            </a:solidFill>
            <a:prstDash val="solid"/>
          </a:ln>
        </p:spPr>
      </p:sp>
      <p:pic>
        <p:nvPicPr>
          <p:cNvPr id="12" name="Image 1" descr="preencoded.png"/>
          <p:cNvPicPr>
            <a:picLocks noChangeAspect="1"/>
          </p:cNvPicPr>
          <p:nvPr/>
        </p:nvPicPr>
        <p:blipFill>
          <a:blip r:embed="rId4"/>
          <a:stretch>
            <a:fillRect/>
          </a:stretch>
        </p:blipFill>
        <p:spPr>
          <a:xfrm>
            <a:off x="4919472" y="1353312"/>
            <a:ext cx="347472" cy="347472"/>
          </a:xfrm>
          <a:prstGeom prst="rect">
            <a:avLst/>
          </a:prstGeom>
        </p:spPr>
      </p:pic>
      <p:sp>
        <p:nvSpPr>
          <p:cNvPr id="13" name="Text 9"/>
          <p:cNvSpPr/>
          <p:nvPr/>
        </p:nvSpPr>
        <p:spPr>
          <a:xfrm>
            <a:off x="5486400" y="1097280"/>
            <a:ext cx="310896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Gemination (Consonant Length)</a:t>
            </a:r>
            <a:endParaRPr lang="en-US" sz="1400" dirty="0"/>
          </a:p>
        </p:txBody>
      </p:sp>
      <p:sp>
        <p:nvSpPr>
          <p:cNvPr id="14" name="Text 10"/>
          <p:cNvSpPr/>
          <p:nvPr/>
        </p:nvSpPr>
        <p:spPr>
          <a:xfrm>
            <a:off x="5486400" y="1481328"/>
            <a:ext cx="3108960" cy="59436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Long vs short consonants change word meaning. CTC models cannot reliably detect this.</a:t>
            </a:r>
            <a:endParaRPr lang="en-US" sz="1200" dirty="0"/>
          </a:p>
        </p:txBody>
      </p:sp>
      <p:sp>
        <p:nvSpPr>
          <p:cNvPr id="15" name="Shape 11"/>
          <p:cNvSpPr/>
          <p:nvPr/>
        </p:nvSpPr>
        <p:spPr>
          <a:xfrm>
            <a:off x="274320" y="2331720"/>
            <a:ext cx="4023360" cy="1143000"/>
          </a:xfrm>
          <a:prstGeom prst="rect">
            <a:avLst/>
          </a:prstGeom>
          <a:solidFill>
            <a:srgbClr val="0F2040"/>
          </a:solidFill>
          <a:ln/>
          <a:effectLst>
            <a:outerShdw blurRad="101600" dist="25400" dir="8100000" algn="bl" rotWithShape="0">
              <a:srgbClr val="000000">
                <a:alpha val="18000"/>
              </a:srgbClr>
            </a:outerShdw>
          </a:effectLst>
        </p:spPr>
      </p:sp>
      <p:sp>
        <p:nvSpPr>
          <p:cNvPr id="16" name="Shape 12"/>
          <p:cNvSpPr/>
          <p:nvPr/>
        </p:nvSpPr>
        <p:spPr>
          <a:xfrm>
            <a:off x="411480" y="2606040"/>
            <a:ext cx="502920" cy="502920"/>
          </a:xfrm>
          <a:prstGeom prst="line">
            <a:avLst/>
          </a:prstGeom>
          <a:solidFill>
            <a:srgbClr val="FFC107"/>
          </a:solidFill>
          <a:ln w="12700">
            <a:solidFill>
              <a:srgbClr val="FFC107"/>
            </a:solidFill>
            <a:prstDash val="solid"/>
          </a:ln>
        </p:spPr>
      </p:sp>
      <p:pic>
        <p:nvPicPr>
          <p:cNvPr id="17" name="Image 2" descr="preencoded.png"/>
          <p:cNvPicPr>
            <a:picLocks noChangeAspect="1"/>
          </p:cNvPicPr>
          <p:nvPr/>
        </p:nvPicPr>
        <p:blipFill>
          <a:blip r:embed="rId5"/>
          <a:stretch>
            <a:fillRect/>
          </a:stretch>
        </p:blipFill>
        <p:spPr>
          <a:xfrm>
            <a:off x="484632" y="2679192"/>
            <a:ext cx="347472" cy="347472"/>
          </a:xfrm>
          <a:prstGeom prst="rect">
            <a:avLst/>
          </a:prstGeom>
        </p:spPr>
      </p:pic>
      <p:sp>
        <p:nvSpPr>
          <p:cNvPr id="18" name="Text 13"/>
          <p:cNvSpPr/>
          <p:nvPr/>
        </p:nvSpPr>
        <p:spPr>
          <a:xfrm>
            <a:off x="1051560" y="2423160"/>
            <a:ext cx="310896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Dialect Variation</a:t>
            </a:r>
            <a:endParaRPr lang="en-US" sz="1400" dirty="0"/>
          </a:p>
        </p:txBody>
      </p:sp>
      <p:sp>
        <p:nvSpPr>
          <p:cNvPr id="19" name="Text 14"/>
          <p:cNvSpPr/>
          <p:nvPr/>
        </p:nvSpPr>
        <p:spPr>
          <a:xfrm>
            <a:off x="1051560" y="2807208"/>
            <a:ext cx="3108960" cy="59436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Central Tigray vs Raya — different vowels, consonants, and rhythm. Models trained on one fail on the other.</a:t>
            </a:r>
            <a:endParaRPr lang="en-US" sz="1200" dirty="0"/>
          </a:p>
        </p:txBody>
      </p:sp>
      <p:sp>
        <p:nvSpPr>
          <p:cNvPr id="20" name="Shape 15"/>
          <p:cNvSpPr/>
          <p:nvPr/>
        </p:nvSpPr>
        <p:spPr>
          <a:xfrm>
            <a:off x="4709160" y="2331720"/>
            <a:ext cx="4023360" cy="1143000"/>
          </a:xfrm>
          <a:prstGeom prst="rect">
            <a:avLst/>
          </a:prstGeom>
          <a:solidFill>
            <a:srgbClr val="0F2040"/>
          </a:solidFill>
          <a:ln/>
          <a:effectLst>
            <a:outerShdw blurRad="101600" dist="25400" dir="8100000" algn="bl" rotWithShape="0">
              <a:srgbClr val="000000">
                <a:alpha val="18000"/>
              </a:srgbClr>
            </a:outerShdw>
          </a:effectLst>
        </p:spPr>
      </p:sp>
      <p:sp>
        <p:nvSpPr>
          <p:cNvPr id="21" name="Shape 16"/>
          <p:cNvSpPr/>
          <p:nvPr/>
        </p:nvSpPr>
        <p:spPr>
          <a:xfrm>
            <a:off x="4846320" y="2606040"/>
            <a:ext cx="502920" cy="502920"/>
          </a:xfrm>
          <a:prstGeom prst="line">
            <a:avLst/>
          </a:prstGeom>
          <a:solidFill>
            <a:srgbClr val="E53935"/>
          </a:solidFill>
          <a:ln w="12700">
            <a:solidFill>
              <a:srgbClr val="E53935"/>
            </a:solidFill>
            <a:prstDash val="solid"/>
          </a:ln>
        </p:spPr>
      </p:sp>
      <p:pic>
        <p:nvPicPr>
          <p:cNvPr id="22" name="Image 3" descr="preencoded.png"/>
          <p:cNvPicPr>
            <a:picLocks noChangeAspect="1"/>
          </p:cNvPicPr>
          <p:nvPr/>
        </p:nvPicPr>
        <p:blipFill>
          <a:blip r:embed="rId6"/>
          <a:stretch>
            <a:fillRect/>
          </a:stretch>
        </p:blipFill>
        <p:spPr>
          <a:xfrm>
            <a:off x="4919472" y="2679192"/>
            <a:ext cx="347472" cy="347472"/>
          </a:xfrm>
          <a:prstGeom prst="rect">
            <a:avLst/>
          </a:prstGeom>
        </p:spPr>
      </p:pic>
      <p:sp>
        <p:nvSpPr>
          <p:cNvPr id="23" name="Text 17"/>
          <p:cNvSpPr/>
          <p:nvPr/>
        </p:nvSpPr>
        <p:spPr>
          <a:xfrm>
            <a:off x="5486400" y="2423160"/>
            <a:ext cx="310896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Noise &amp; Real-world Conditions</a:t>
            </a:r>
            <a:endParaRPr lang="en-US" sz="1400" dirty="0"/>
          </a:p>
        </p:txBody>
      </p:sp>
      <p:sp>
        <p:nvSpPr>
          <p:cNvPr id="24" name="Text 18"/>
          <p:cNvSpPr/>
          <p:nvPr/>
        </p:nvSpPr>
        <p:spPr>
          <a:xfrm>
            <a:off x="5486400" y="2807208"/>
            <a:ext cx="3108960" cy="59436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Courts, streets, community settings — far from the clean studio data models were trained on.</a:t>
            </a:r>
            <a:endParaRPr lang="en-US" sz="1200" dirty="0"/>
          </a:p>
        </p:txBody>
      </p:sp>
      <p:sp>
        <p:nvSpPr>
          <p:cNvPr id="25" name="Shape 19"/>
          <p:cNvSpPr/>
          <p:nvPr/>
        </p:nvSpPr>
        <p:spPr>
          <a:xfrm>
            <a:off x="274320" y="3657600"/>
            <a:ext cx="4023360" cy="1143000"/>
          </a:xfrm>
          <a:prstGeom prst="rect">
            <a:avLst/>
          </a:prstGeom>
          <a:solidFill>
            <a:srgbClr val="0F2040"/>
          </a:solidFill>
          <a:ln/>
          <a:effectLst>
            <a:outerShdw blurRad="101600" dist="25400" dir="8100000" algn="bl" rotWithShape="0">
              <a:srgbClr val="000000">
                <a:alpha val="18000"/>
              </a:srgbClr>
            </a:outerShdw>
          </a:effectLst>
        </p:spPr>
      </p:sp>
      <p:sp>
        <p:nvSpPr>
          <p:cNvPr id="26" name="Shape 20"/>
          <p:cNvSpPr/>
          <p:nvPr/>
        </p:nvSpPr>
        <p:spPr>
          <a:xfrm>
            <a:off x="411480" y="3931920"/>
            <a:ext cx="502920" cy="502920"/>
          </a:xfrm>
          <a:prstGeom prst="line">
            <a:avLst/>
          </a:prstGeom>
          <a:solidFill>
            <a:srgbClr val="00C853"/>
          </a:solidFill>
          <a:ln w="12700">
            <a:solidFill>
              <a:srgbClr val="00C853"/>
            </a:solidFill>
            <a:prstDash val="solid"/>
          </a:ln>
        </p:spPr>
      </p:sp>
      <p:pic>
        <p:nvPicPr>
          <p:cNvPr id="27" name="Image 4" descr="preencoded.png"/>
          <p:cNvPicPr>
            <a:picLocks noChangeAspect="1"/>
          </p:cNvPicPr>
          <p:nvPr/>
        </p:nvPicPr>
        <p:blipFill>
          <a:blip r:embed="rId7"/>
          <a:stretch>
            <a:fillRect/>
          </a:stretch>
        </p:blipFill>
        <p:spPr>
          <a:xfrm>
            <a:off x="484632" y="4005072"/>
            <a:ext cx="347472" cy="347472"/>
          </a:xfrm>
          <a:prstGeom prst="rect">
            <a:avLst/>
          </a:prstGeom>
        </p:spPr>
      </p:pic>
      <p:sp>
        <p:nvSpPr>
          <p:cNvPr id="28" name="Text 21"/>
          <p:cNvSpPr/>
          <p:nvPr/>
        </p:nvSpPr>
        <p:spPr>
          <a:xfrm>
            <a:off x="1051560" y="3749040"/>
            <a:ext cx="310896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Code-Switching</a:t>
            </a:r>
            <a:endParaRPr lang="en-US" sz="1400" dirty="0"/>
          </a:p>
        </p:txBody>
      </p:sp>
      <p:sp>
        <p:nvSpPr>
          <p:cNvPr id="29" name="Text 22"/>
          <p:cNvSpPr/>
          <p:nvPr/>
        </p:nvSpPr>
        <p:spPr>
          <a:xfrm>
            <a:off x="1051560" y="4133088"/>
            <a:ext cx="3108960" cy="59436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Speakers naturally mix in English words. ASR systems force English into Tigrinya syllable patterns.</a:t>
            </a:r>
            <a:endParaRPr lang="en-US" sz="1200" dirty="0"/>
          </a:p>
        </p:txBody>
      </p:sp>
      <p:sp>
        <p:nvSpPr>
          <p:cNvPr id="30" name="Shape 23"/>
          <p:cNvSpPr/>
          <p:nvPr/>
        </p:nvSpPr>
        <p:spPr>
          <a:xfrm>
            <a:off x="4709160" y="3657600"/>
            <a:ext cx="4023360" cy="1143000"/>
          </a:xfrm>
          <a:prstGeom prst="rect">
            <a:avLst/>
          </a:prstGeom>
          <a:solidFill>
            <a:srgbClr val="0F2040"/>
          </a:solidFill>
          <a:ln/>
          <a:effectLst>
            <a:outerShdw blurRad="101600" dist="25400" dir="8100000" algn="bl" rotWithShape="0">
              <a:srgbClr val="000000">
                <a:alpha val="18000"/>
              </a:srgbClr>
            </a:outerShdw>
          </a:effectLst>
        </p:spPr>
      </p:sp>
      <p:sp>
        <p:nvSpPr>
          <p:cNvPr id="31" name="Shape 24"/>
          <p:cNvSpPr/>
          <p:nvPr/>
        </p:nvSpPr>
        <p:spPr>
          <a:xfrm>
            <a:off x="4846320" y="3931920"/>
            <a:ext cx="502920" cy="502920"/>
          </a:xfrm>
          <a:prstGeom prst="line">
            <a:avLst/>
          </a:prstGeom>
          <a:solidFill>
            <a:srgbClr val="1565C0"/>
          </a:solidFill>
          <a:ln w="12700">
            <a:solidFill>
              <a:srgbClr val="1565C0"/>
            </a:solidFill>
            <a:prstDash val="solid"/>
          </a:ln>
        </p:spPr>
      </p:sp>
      <p:pic>
        <p:nvPicPr>
          <p:cNvPr id="32" name="Image 5" descr="preencoded.png"/>
          <p:cNvPicPr>
            <a:picLocks noChangeAspect="1"/>
          </p:cNvPicPr>
          <p:nvPr/>
        </p:nvPicPr>
        <p:blipFill>
          <a:blip r:embed="rId8"/>
          <a:stretch>
            <a:fillRect/>
          </a:stretch>
        </p:blipFill>
        <p:spPr>
          <a:xfrm>
            <a:off x="4919472" y="4005072"/>
            <a:ext cx="347472" cy="347472"/>
          </a:xfrm>
          <a:prstGeom prst="rect">
            <a:avLst/>
          </a:prstGeom>
        </p:spPr>
      </p:pic>
      <p:sp>
        <p:nvSpPr>
          <p:cNvPr id="33" name="Text 25"/>
          <p:cNvSpPr/>
          <p:nvPr/>
        </p:nvSpPr>
        <p:spPr>
          <a:xfrm>
            <a:off x="5486400" y="3749040"/>
            <a:ext cx="310896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Ge'ez Script (about 250 characters)</a:t>
            </a:r>
            <a:endParaRPr lang="en-US" sz="1400" dirty="0"/>
          </a:p>
        </p:txBody>
      </p:sp>
      <p:sp>
        <p:nvSpPr>
          <p:cNvPr id="34" name="Text 26"/>
          <p:cNvSpPr/>
          <p:nvPr/>
        </p:nvSpPr>
        <p:spPr>
          <a:xfrm>
            <a:off x="5486400" y="4133088"/>
            <a:ext cx="3108960" cy="59436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Over 250 syllabic characters. Redundant characters inflate error rates unfairly without normalization.</a:t>
            </a:r>
            <a:endParaRPr lang="en-US" sz="1200" dirty="0"/>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1628"/>
          </a:solidFill>
          <a:ln w="12700">
            <a:solidFill>
              <a:srgbClr val="0A1628"/>
            </a:solidFill>
            <a:prstDash val="solid"/>
          </a:ln>
        </p:spPr>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800" b="1" dirty="0">
                <a:solidFill>
                  <a:srgbClr val="0A1628"/>
                </a:solidFill>
                <a:latin typeface="Calibri" pitchFamily="34" charset="0"/>
                <a:ea typeface="Calibri" pitchFamily="34" charset="-122"/>
                <a:cs typeface="Calibri" pitchFamily="34" charset="-120"/>
              </a:rPr>
              <a:t>What We Did</a:t>
            </a:r>
            <a:endParaRPr lang="en-US" sz="2800" dirty="0"/>
          </a:p>
        </p:txBody>
      </p:sp>
      <p:sp>
        <p:nvSpPr>
          <p:cNvPr id="4" name="Shape 2"/>
          <p:cNvSpPr/>
          <p:nvPr/>
        </p:nvSpPr>
        <p:spPr>
          <a:xfrm>
            <a:off x="457200" y="886968"/>
            <a:ext cx="8229600" cy="22860"/>
          </a:xfrm>
          <a:prstGeom prst="rect">
            <a:avLst/>
          </a:prstGeom>
          <a:solidFill>
            <a:srgbClr val="00B4D8"/>
          </a:solidFill>
          <a:ln w="12700">
            <a:solidFill>
              <a:srgbClr val="00B4D8"/>
            </a:solidFill>
            <a:prstDash val="solid"/>
          </a:ln>
        </p:spPr>
      </p:sp>
      <p:sp>
        <p:nvSpPr>
          <p:cNvPr id="5" name="Shape 3"/>
          <p:cNvSpPr/>
          <p:nvPr/>
        </p:nvSpPr>
        <p:spPr>
          <a:xfrm>
            <a:off x="320040" y="1051560"/>
            <a:ext cx="502920" cy="502920"/>
          </a:xfrm>
          <a:prstGeom prst="line">
            <a:avLst/>
          </a:prstGeom>
          <a:solidFill>
            <a:srgbClr val="0A1628"/>
          </a:solidFill>
          <a:ln w="12700">
            <a:solidFill>
              <a:srgbClr val="0A1628"/>
            </a:solidFill>
            <a:prstDash val="solid"/>
          </a:ln>
        </p:spPr>
      </p:sp>
      <p:sp>
        <p:nvSpPr>
          <p:cNvPr id="6" name="Text 4"/>
          <p:cNvSpPr/>
          <p:nvPr/>
        </p:nvSpPr>
        <p:spPr>
          <a:xfrm>
            <a:off x="320040" y="10515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Shape 5"/>
          <p:cNvSpPr/>
          <p:nvPr/>
        </p:nvSpPr>
        <p:spPr>
          <a:xfrm>
            <a:off x="548640" y="1554480"/>
            <a:ext cx="45720" cy="274320"/>
          </a:xfrm>
          <a:prstGeom prst="rect">
            <a:avLst/>
          </a:prstGeom>
          <a:solidFill>
            <a:srgbClr val="00B4D8"/>
          </a:solidFill>
          <a:ln w="12700">
            <a:solidFill>
              <a:srgbClr val="00B4D8"/>
            </a:solidFill>
            <a:prstDash val="solid"/>
          </a:ln>
        </p:spPr>
      </p:sp>
      <p:sp>
        <p:nvSpPr>
          <p:cNvPr id="8" name="Text 6"/>
          <p:cNvSpPr/>
          <p:nvPr/>
        </p:nvSpPr>
        <p:spPr>
          <a:xfrm>
            <a:off x="1005840" y="1078992"/>
            <a:ext cx="7772400" cy="457200"/>
          </a:xfrm>
          <a:prstGeom prst="rect">
            <a:avLst/>
          </a:prstGeom>
          <a:noFill/>
          <a:ln/>
        </p:spPr>
        <p:txBody>
          <a:bodyPr wrap="square" lIns="0" tIns="0" rIns="0" bIns="0" rtlCol="0" anchor="ctr"/>
          <a:lstStyle/>
          <a:p>
            <a:pPr marL="0" indent="0">
              <a:buNone/>
            </a:pPr>
            <a:r>
              <a:rPr lang="en-US" sz="1500" dirty="0">
                <a:solidFill>
                  <a:srgbClr val="0A1628"/>
                </a:solidFill>
                <a:latin typeface="Calibri" pitchFamily="34" charset="0"/>
                <a:ea typeface="Calibri" pitchFamily="34" charset="-122"/>
                <a:cs typeface="Calibri" pitchFamily="34" charset="-120"/>
              </a:rPr>
              <a:t>Collected 10,000+ Tigrinya sentences from media, community &amp; YouTube</a:t>
            </a:r>
            <a:endParaRPr lang="en-US" sz="1500" dirty="0"/>
          </a:p>
        </p:txBody>
      </p:sp>
      <p:sp>
        <p:nvSpPr>
          <p:cNvPr id="9" name="Shape 7"/>
          <p:cNvSpPr/>
          <p:nvPr/>
        </p:nvSpPr>
        <p:spPr>
          <a:xfrm>
            <a:off x="320040" y="1828800"/>
            <a:ext cx="502920" cy="502920"/>
          </a:xfrm>
          <a:prstGeom prst="line">
            <a:avLst/>
          </a:prstGeom>
          <a:solidFill>
            <a:srgbClr val="0A1628"/>
          </a:solidFill>
          <a:ln w="12700">
            <a:solidFill>
              <a:srgbClr val="0A1628"/>
            </a:solidFill>
            <a:prstDash val="solid"/>
          </a:ln>
        </p:spPr>
      </p:sp>
      <p:sp>
        <p:nvSpPr>
          <p:cNvPr id="10" name="Text 8"/>
          <p:cNvSpPr/>
          <p:nvPr/>
        </p:nvSpPr>
        <p:spPr>
          <a:xfrm>
            <a:off x="320040" y="18288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Shape 9"/>
          <p:cNvSpPr/>
          <p:nvPr/>
        </p:nvSpPr>
        <p:spPr>
          <a:xfrm>
            <a:off x="548640" y="2331720"/>
            <a:ext cx="45720" cy="274320"/>
          </a:xfrm>
          <a:prstGeom prst="rect">
            <a:avLst/>
          </a:prstGeom>
          <a:solidFill>
            <a:srgbClr val="00B4D8"/>
          </a:solidFill>
          <a:ln w="12700">
            <a:solidFill>
              <a:srgbClr val="00B4D8"/>
            </a:solidFill>
            <a:prstDash val="solid"/>
          </a:ln>
        </p:spPr>
      </p:sp>
      <p:sp>
        <p:nvSpPr>
          <p:cNvPr id="12" name="Text 10"/>
          <p:cNvSpPr/>
          <p:nvPr/>
        </p:nvSpPr>
        <p:spPr>
          <a:xfrm>
            <a:off x="1005840" y="1856232"/>
            <a:ext cx="7772400" cy="457200"/>
          </a:xfrm>
          <a:prstGeom prst="rect">
            <a:avLst/>
          </a:prstGeom>
          <a:noFill/>
          <a:ln/>
        </p:spPr>
        <p:txBody>
          <a:bodyPr wrap="square" lIns="0" tIns="0" rIns="0" bIns="0" rtlCol="0" anchor="ctr"/>
          <a:lstStyle/>
          <a:p>
            <a:pPr marL="0" indent="0">
              <a:buNone/>
            </a:pPr>
            <a:r>
              <a:rPr lang="en-US" sz="1500" dirty="0">
                <a:solidFill>
                  <a:srgbClr val="0A1628"/>
                </a:solidFill>
                <a:latin typeface="Calibri" pitchFamily="34" charset="0"/>
                <a:ea typeface="Calibri" pitchFamily="34" charset="-122"/>
                <a:cs typeface="Calibri" pitchFamily="34" charset="-120"/>
              </a:rPr>
              <a:t>Selected 1,000 for evaluation — spanning 7 condition categories</a:t>
            </a:r>
            <a:endParaRPr lang="en-US" sz="1500" dirty="0"/>
          </a:p>
        </p:txBody>
      </p:sp>
      <p:sp>
        <p:nvSpPr>
          <p:cNvPr id="13" name="Shape 11"/>
          <p:cNvSpPr/>
          <p:nvPr/>
        </p:nvSpPr>
        <p:spPr>
          <a:xfrm>
            <a:off x="320040" y="2606040"/>
            <a:ext cx="502920" cy="502920"/>
          </a:xfrm>
          <a:prstGeom prst="line">
            <a:avLst/>
          </a:prstGeom>
          <a:solidFill>
            <a:srgbClr val="0A1628"/>
          </a:solidFill>
          <a:ln w="12700">
            <a:solidFill>
              <a:srgbClr val="0A1628"/>
            </a:solidFill>
            <a:prstDash val="solid"/>
          </a:ln>
        </p:spPr>
      </p:sp>
      <p:sp>
        <p:nvSpPr>
          <p:cNvPr id="14" name="Text 12"/>
          <p:cNvSpPr/>
          <p:nvPr/>
        </p:nvSpPr>
        <p:spPr>
          <a:xfrm>
            <a:off x="320040" y="26060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Shape 13"/>
          <p:cNvSpPr/>
          <p:nvPr/>
        </p:nvSpPr>
        <p:spPr>
          <a:xfrm>
            <a:off x="548640" y="3108960"/>
            <a:ext cx="45720" cy="274320"/>
          </a:xfrm>
          <a:prstGeom prst="rect">
            <a:avLst/>
          </a:prstGeom>
          <a:solidFill>
            <a:srgbClr val="00B4D8"/>
          </a:solidFill>
          <a:ln w="12700">
            <a:solidFill>
              <a:srgbClr val="00B4D8"/>
            </a:solidFill>
            <a:prstDash val="solid"/>
          </a:ln>
        </p:spPr>
      </p:sp>
      <p:sp>
        <p:nvSpPr>
          <p:cNvPr id="16" name="Text 14"/>
          <p:cNvSpPr/>
          <p:nvPr/>
        </p:nvSpPr>
        <p:spPr>
          <a:xfrm>
            <a:off x="1005840" y="2633472"/>
            <a:ext cx="7772400" cy="457200"/>
          </a:xfrm>
          <a:prstGeom prst="rect">
            <a:avLst/>
          </a:prstGeom>
          <a:noFill/>
          <a:ln/>
        </p:spPr>
        <p:txBody>
          <a:bodyPr wrap="square" lIns="0" tIns="0" rIns="0" bIns="0" rtlCol="0" anchor="ctr"/>
          <a:lstStyle/>
          <a:p>
            <a:pPr marL="0" indent="0">
              <a:buNone/>
            </a:pPr>
            <a:r>
              <a:rPr lang="en-US" sz="1500" dirty="0">
                <a:solidFill>
                  <a:srgbClr val="0A1628"/>
                </a:solidFill>
                <a:latin typeface="Calibri" pitchFamily="34" charset="0"/>
                <a:ea typeface="Calibri" pitchFamily="34" charset="-122"/>
                <a:cs typeface="Calibri" pitchFamily="34" charset="-120"/>
              </a:rPr>
              <a:t>Identified 4 strong ASR models (no fine-tuning — out-of-box test)</a:t>
            </a:r>
            <a:endParaRPr lang="en-US" sz="1500" dirty="0"/>
          </a:p>
        </p:txBody>
      </p:sp>
      <p:sp>
        <p:nvSpPr>
          <p:cNvPr id="17" name="Shape 15"/>
          <p:cNvSpPr/>
          <p:nvPr/>
        </p:nvSpPr>
        <p:spPr>
          <a:xfrm>
            <a:off x="320040" y="3383280"/>
            <a:ext cx="502920" cy="502920"/>
          </a:xfrm>
          <a:prstGeom prst="line">
            <a:avLst/>
          </a:prstGeom>
          <a:solidFill>
            <a:srgbClr val="0A1628"/>
          </a:solidFill>
          <a:ln w="12700">
            <a:solidFill>
              <a:srgbClr val="0A1628"/>
            </a:solidFill>
            <a:prstDash val="solid"/>
          </a:ln>
        </p:spPr>
      </p:sp>
      <p:sp>
        <p:nvSpPr>
          <p:cNvPr id="18" name="Text 16"/>
          <p:cNvSpPr/>
          <p:nvPr/>
        </p:nvSpPr>
        <p:spPr>
          <a:xfrm>
            <a:off x="320040" y="33832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Shape 17"/>
          <p:cNvSpPr/>
          <p:nvPr/>
        </p:nvSpPr>
        <p:spPr>
          <a:xfrm>
            <a:off x="548640" y="3886200"/>
            <a:ext cx="45720" cy="274320"/>
          </a:xfrm>
          <a:prstGeom prst="rect">
            <a:avLst/>
          </a:prstGeom>
          <a:solidFill>
            <a:srgbClr val="00B4D8"/>
          </a:solidFill>
          <a:ln w="12700">
            <a:solidFill>
              <a:srgbClr val="00B4D8"/>
            </a:solidFill>
            <a:prstDash val="solid"/>
          </a:ln>
        </p:spPr>
      </p:sp>
      <p:sp>
        <p:nvSpPr>
          <p:cNvPr id="20" name="Text 18"/>
          <p:cNvSpPr/>
          <p:nvPr/>
        </p:nvSpPr>
        <p:spPr>
          <a:xfrm>
            <a:off x="1005840" y="3410712"/>
            <a:ext cx="7772400" cy="457200"/>
          </a:xfrm>
          <a:prstGeom prst="rect">
            <a:avLst/>
          </a:prstGeom>
          <a:noFill/>
          <a:ln/>
        </p:spPr>
        <p:txBody>
          <a:bodyPr wrap="square" lIns="0" tIns="0" rIns="0" bIns="0" rtlCol="0" anchor="ctr"/>
          <a:lstStyle/>
          <a:p>
            <a:pPr marL="0" indent="0">
              <a:buNone/>
            </a:pPr>
            <a:r>
              <a:rPr lang="en-US" sz="1500" dirty="0">
                <a:solidFill>
                  <a:srgbClr val="0A1628"/>
                </a:solidFill>
                <a:latin typeface="Calibri" pitchFamily="34" charset="0"/>
                <a:ea typeface="Calibri" pitchFamily="34" charset="-122"/>
                <a:cs typeface="Calibri" pitchFamily="34" charset="-120"/>
              </a:rPr>
              <a:t>Applied Ge'ez orthographic normalization (21 character mappings)</a:t>
            </a:r>
            <a:endParaRPr lang="en-US" sz="1500" dirty="0"/>
          </a:p>
        </p:txBody>
      </p:sp>
      <p:sp>
        <p:nvSpPr>
          <p:cNvPr id="21" name="Shape 19"/>
          <p:cNvSpPr/>
          <p:nvPr/>
        </p:nvSpPr>
        <p:spPr>
          <a:xfrm>
            <a:off x="320040" y="4160520"/>
            <a:ext cx="502920" cy="502920"/>
          </a:xfrm>
          <a:prstGeom prst="line">
            <a:avLst/>
          </a:prstGeom>
          <a:solidFill>
            <a:srgbClr val="0A1628"/>
          </a:solidFill>
          <a:ln w="12700">
            <a:solidFill>
              <a:srgbClr val="0A1628"/>
            </a:solidFill>
            <a:prstDash val="solid"/>
          </a:ln>
        </p:spPr>
      </p:sp>
      <p:sp>
        <p:nvSpPr>
          <p:cNvPr id="22" name="Text 20"/>
          <p:cNvSpPr/>
          <p:nvPr/>
        </p:nvSpPr>
        <p:spPr>
          <a:xfrm>
            <a:off x="320040" y="41605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1"/>
          <p:cNvSpPr/>
          <p:nvPr/>
        </p:nvSpPr>
        <p:spPr>
          <a:xfrm>
            <a:off x="1005840" y="4187952"/>
            <a:ext cx="7772400" cy="457200"/>
          </a:xfrm>
          <a:prstGeom prst="rect">
            <a:avLst/>
          </a:prstGeom>
          <a:noFill/>
          <a:ln/>
        </p:spPr>
        <p:txBody>
          <a:bodyPr wrap="square" lIns="0" tIns="0" rIns="0" bIns="0" rtlCol="0" anchor="ctr"/>
          <a:lstStyle/>
          <a:p>
            <a:pPr marL="0" indent="0">
              <a:buNone/>
            </a:pPr>
            <a:r>
              <a:rPr lang="en-US" sz="1500" dirty="0">
                <a:solidFill>
                  <a:srgbClr val="0A1628"/>
                </a:solidFill>
                <a:latin typeface="Calibri" pitchFamily="34" charset="0"/>
                <a:ea typeface="Calibri" pitchFamily="34" charset="-122"/>
                <a:cs typeface="Calibri" pitchFamily="34" charset="-120"/>
              </a:rPr>
              <a:t>Computed WER, CER, and PIER per condition</a:t>
            </a:r>
            <a:endParaRPr lang="en-US" sz="1500" dirty="0"/>
          </a:p>
        </p:txBody>
      </p:sp>
      <p:sp>
        <p:nvSpPr>
          <p:cNvPr id="24" name="Shape 22"/>
          <p:cNvSpPr/>
          <p:nvPr/>
        </p:nvSpPr>
        <p:spPr>
          <a:xfrm>
            <a:off x="320040" y="4709160"/>
            <a:ext cx="8503920" cy="320040"/>
          </a:xfrm>
          <a:prstGeom prst="rect">
            <a:avLst/>
          </a:prstGeom>
          <a:solidFill>
            <a:srgbClr val="D0E8FF"/>
          </a:solidFill>
          <a:ln w="12700">
            <a:solidFill>
              <a:srgbClr val="00B4D8"/>
            </a:solidFill>
            <a:prstDash val="solid"/>
          </a:ln>
        </p:spPr>
      </p:sp>
      <p:sp>
        <p:nvSpPr>
          <p:cNvPr id="25" name="Text 23"/>
          <p:cNvSpPr/>
          <p:nvPr/>
        </p:nvSpPr>
        <p:spPr>
          <a:xfrm>
            <a:off x="320040" y="4709160"/>
            <a:ext cx="8503920" cy="320040"/>
          </a:xfrm>
          <a:prstGeom prst="rect">
            <a:avLst/>
          </a:prstGeom>
          <a:noFill/>
          <a:ln/>
        </p:spPr>
        <p:txBody>
          <a:bodyPr wrap="square" lIns="0" tIns="0" rIns="0" bIns="0" rtlCol="0" anchor="ctr"/>
          <a:lstStyle/>
          <a:p>
            <a:pPr marL="0" indent="0" algn="ctr">
              <a:buNone/>
            </a:pPr>
            <a:r>
              <a:rPr lang="en-US" sz="1100" dirty="0">
                <a:solidFill>
                  <a:srgbClr val="0A1628"/>
                </a:solidFill>
                <a:latin typeface="Calibri" pitchFamily="34" charset="0"/>
                <a:ea typeface="Calibri" pitchFamily="34" charset="-122"/>
                <a:cs typeface="Calibri" pitchFamily="34" charset="-120"/>
              </a:rPr>
              <a:t>Data Sources: 104.4 Radio FM Mekelle  |  Tigray TV  |  TBS TV  |  </a:t>
            </a:r>
            <a:r>
              <a:rPr lang="en-US" sz="1100" dirty="0" err="1">
                <a:solidFill>
                  <a:srgbClr val="0A1628"/>
                </a:solidFill>
                <a:latin typeface="Calibri" pitchFamily="34" charset="0"/>
                <a:ea typeface="Calibri" pitchFamily="34" charset="-122"/>
                <a:cs typeface="Calibri" pitchFamily="34" charset="-120"/>
              </a:rPr>
              <a:t>Momona</a:t>
            </a:r>
            <a:r>
              <a:rPr lang="en-US" sz="1100" dirty="0">
                <a:solidFill>
                  <a:srgbClr val="0A1628"/>
                </a:solidFill>
                <a:latin typeface="Calibri" pitchFamily="34" charset="0"/>
                <a:ea typeface="Calibri" pitchFamily="34" charset="-122"/>
                <a:cs typeface="Calibri" pitchFamily="34" charset="-120"/>
              </a:rPr>
              <a:t> FM 96.4  |  MIT Students  |  Aynalem Community  |  YouTube (Raya)</a:t>
            </a:r>
            <a:endParaRPr lang="en-US" sz="11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5">
                                            <p:txEl>
                                              <p:pRg st="0" end="0"/>
                                            </p:txEl>
                                          </p:spTgt>
                                        </p:tgtEl>
                                        <p:attrNameLst>
                                          <p:attrName>style.visibility</p:attrName>
                                        </p:attrNameLst>
                                      </p:cBhvr>
                                      <p:to>
                                        <p:strVal val="visible"/>
                                      </p:to>
                                    </p:set>
                                    <p:anim calcmode="lin" valueType="num">
                                      <p:cBhvr additive="base">
                                        <p:cTn id="13"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Evaluation Setup</a:t>
            </a:r>
            <a:endParaRPr lang="en-US" sz="2800" dirty="0"/>
          </a:p>
        </p:txBody>
      </p:sp>
      <p:sp>
        <p:nvSpPr>
          <p:cNvPr id="4" name="Shape 2"/>
          <p:cNvSpPr/>
          <p:nvPr/>
        </p:nvSpPr>
        <p:spPr>
          <a:xfrm>
            <a:off x="457200" y="886968"/>
            <a:ext cx="8229600" cy="22860"/>
          </a:xfrm>
          <a:prstGeom prst="rect">
            <a:avLst/>
          </a:prstGeom>
          <a:solidFill>
            <a:srgbClr val="00B4D8"/>
          </a:solidFill>
          <a:ln w="12700">
            <a:solidFill>
              <a:srgbClr val="00B4D8"/>
            </a:solidFill>
            <a:prstDash val="solid"/>
          </a:ln>
        </p:spPr>
      </p:sp>
      <p:sp>
        <p:nvSpPr>
          <p:cNvPr id="5" name="Text 3"/>
          <p:cNvSpPr/>
          <p:nvPr/>
        </p:nvSpPr>
        <p:spPr>
          <a:xfrm>
            <a:off x="365760" y="1005840"/>
            <a:ext cx="3840480" cy="365760"/>
          </a:xfrm>
          <a:prstGeom prst="rect">
            <a:avLst/>
          </a:prstGeom>
          <a:noFill/>
          <a:ln/>
        </p:spPr>
        <p:txBody>
          <a:bodyPr wrap="square" lIns="0" tIns="0" rIns="0" bIns="0"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4 Models Evaluated</a:t>
            </a:r>
            <a:endParaRPr lang="en-US" sz="1600" dirty="0"/>
          </a:p>
        </p:txBody>
      </p:sp>
      <p:sp>
        <p:nvSpPr>
          <p:cNvPr id="6" name="Shape 4"/>
          <p:cNvSpPr/>
          <p:nvPr/>
        </p:nvSpPr>
        <p:spPr>
          <a:xfrm>
            <a:off x="365760" y="1444752"/>
            <a:ext cx="3840480" cy="685800"/>
          </a:xfrm>
          <a:prstGeom prst="rect">
            <a:avLst/>
          </a:prstGeom>
          <a:solidFill>
            <a:srgbClr val="0F2040"/>
          </a:solidFill>
          <a:ln/>
          <a:effectLst>
            <a:outerShdw blurRad="101600" dist="25400" dir="8100000" algn="bl" rotWithShape="0">
              <a:srgbClr val="000000">
                <a:alpha val="18000"/>
              </a:srgbClr>
            </a:outerShdw>
          </a:effectLst>
        </p:spPr>
      </p:sp>
      <p:sp>
        <p:nvSpPr>
          <p:cNvPr id="7" name="Text 5"/>
          <p:cNvSpPr/>
          <p:nvPr/>
        </p:nvSpPr>
        <p:spPr>
          <a:xfrm>
            <a:off x="548640" y="1490472"/>
            <a:ext cx="352044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Meta MMS-1B</a:t>
            </a:r>
            <a:endParaRPr lang="en-US" sz="1400" dirty="0"/>
          </a:p>
        </p:txBody>
      </p:sp>
      <p:sp>
        <p:nvSpPr>
          <p:cNvPr id="8" name="Text 6"/>
          <p:cNvSpPr/>
          <p:nvPr/>
        </p:nvSpPr>
        <p:spPr>
          <a:xfrm>
            <a:off x="548640" y="1810512"/>
            <a:ext cx="352044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1,000+ language multilingual model</a:t>
            </a:r>
            <a:endParaRPr lang="en-US" sz="1200" dirty="0"/>
          </a:p>
        </p:txBody>
      </p:sp>
      <p:sp>
        <p:nvSpPr>
          <p:cNvPr id="9" name="Shape 7"/>
          <p:cNvSpPr/>
          <p:nvPr/>
        </p:nvSpPr>
        <p:spPr>
          <a:xfrm>
            <a:off x="365760" y="2249424"/>
            <a:ext cx="3840480" cy="685800"/>
          </a:xfrm>
          <a:prstGeom prst="rect">
            <a:avLst/>
          </a:prstGeom>
          <a:solidFill>
            <a:srgbClr val="0F2040"/>
          </a:solidFill>
          <a:ln/>
          <a:effectLst>
            <a:outerShdw blurRad="101600" dist="25400" dir="8100000" algn="bl" rotWithShape="0">
              <a:srgbClr val="000000">
                <a:alpha val="18000"/>
              </a:srgbClr>
            </a:outerShdw>
          </a:effectLst>
        </p:spPr>
      </p:sp>
      <p:sp>
        <p:nvSpPr>
          <p:cNvPr id="10" name="Text 8"/>
          <p:cNvSpPr/>
          <p:nvPr/>
        </p:nvSpPr>
        <p:spPr>
          <a:xfrm>
            <a:off x="548640" y="2295144"/>
            <a:ext cx="352044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Badrex W2V-BERT 2.0</a:t>
            </a:r>
            <a:endParaRPr lang="en-US" sz="1400" dirty="0"/>
          </a:p>
        </p:txBody>
      </p:sp>
      <p:sp>
        <p:nvSpPr>
          <p:cNvPr id="11" name="Text 9"/>
          <p:cNvSpPr/>
          <p:nvPr/>
        </p:nvSpPr>
        <p:spPr>
          <a:xfrm>
            <a:off x="548640" y="2615184"/>
            <a:ext cx="352044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Tigrinya fine-tune, 100h broadcast data</a:t>
            </a:r>
            <a:endParaRPr lang="en-US" sz="1200" dirty="0"/>
          </a:p>
        </p:txBody>
      </p:sp>
      <p:sp>
        <p:nvSpPr>
          <p:cNvPr id="12" name="Shape 10"/>
          <p:cNvSpPr/>
          <p:nvPr/>
        </p:nvSpPr>
        <p:spPr>
          <a:xfrm>
            <a:off x="365760" y="3054096"/>
            <a:ext cx="3840480" cy="685800"/>
          </a:xfrm>
          <a:prstGeom prst="rect">
            <a:avLst/>
          </a:prstGeom>
          <a:solidFill>
            <a:srgbClr val="0F2040"/>
          </a:solidFill>
          <a:ln/>
          <a:effectLst>
            <a:outerShdw blurRad="101600" dist="25400" dir="8100000" algn="bl" rotWithShape="0">
              <a:srgbClr val="000000">
                <a:alpha val="18000"/>
              </a:srgbClr>
            </a:outerShdw>
          </a:effectLst>
        </p:spPr>
      </p:sp>
      <p:sp>
        <p:nvSpPr>
          <p:cNvPr id="13" name="Text 11"/>
          <p:cNvSpPr/>
          <p:nvPr/>
        </p:nvSpPr>
        <p:spPr>
          <a:xfrm>
            <a:off x="548640" y="3099816"/>
            <a:ext cx="352044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Samuael ASR</a:t>
            </a:r>
            <a:endParaRPr lang="en-US" sz="1400" dirty="0"/>
          </a:p>
        </p:txBody>
      </p:sp>
      <p:sp>
        <p:nvSpPr>
          <p:cNvPr id="14" name="Text 12"/>
          <p:cNvSpPr/>
          <p:nvPr/>
        </p:nvSpPr>
        <p:spPr>
          <a:xfrm>
            <a:off x="548640" y="3419856"/>
            <a:ext cx="352044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Character-level CTC, 40h mixed data</a:t>
            </a:r>
            <a:endParaRPr lang="en-US" sz="1200" dirty="0"/>
          </a:p>
        </p:txBody>
      </p:sp>
      <p:sp>
        <p:nvSpPr>
          <p:cNvPr id="15" name="Shape 13"/>
          <p:cNvSpPr/>
          <p:nvPr/>
        </p:nvSpPr>
        <p:spPr>
          <a:xfrm>
            <a:off x="365760" y="3858768"/>
            <a:ext cx="3840480" cy="685800"/>
          </a:xfrm>
          <a:prstGeom prst="rect">
            <a:avLst/>
          </a:prstGeom>
          <a:solidFill>
            <a:srgbClr val="0F2040"/>
          </a:solidFill>
          <a:ln/>
          <a:effectLst>
            <a:outerShdw blurRad="101600" dist="25400" dir="8100000" algn="bl" rotWithShape="0">
              <a:srgbClr val="000000">
                <a:alpha val="18000"/>
              </a:srgbClr>
            </a:outerShdw>
          </a:effectLst>
        </p:spPr>
      </p:sp>
      <p:sp>
        <p:nvSpPr>
          <p:cNvPr id="16" name="Text 14"/>
          <p:cNvSpPr/>
          <p:nvPr/>
        </p:nvSpPr>
        <p:spPr>
          <a:xfrm>
            <a:off x="548640" y="3904488"/>
            <a:ext cx="352044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Omnilingual CTC-1B</a:t>
            </a:r>
            <a:endParaRPr lang="en-US" sz="1400" dirty="0"/>
          </a:p>
        </p:txBody>
      </p:sp>
      <p:sp>
        <p:nvSpPr>
          <p:cNvPr id="17" name="Text 15"/>
          <p:cNvSpPr/>
          <p:nvPr/>
        </p:nvSpPr>
        <p:spPr>
          <a:xfrm>
            <a:off x="548640" y="4224528"/>
            <a:ext cx="3520440" cy="27432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Wide low-resource coverage</a:t>
            </a:r>
            <a:endParaRPr lang="en-US" sz="1200" dirty="0"/>
          </a:p>
        </p:txBody>
      </p:sp>
      <p:sp>
        <p:nvSpPr>
          <p:cNvPr id="18" name="Text 16"/>
          <p:cNvSpPr/>
          <p:nvPr/>
        </p:nvSpPr>
        <p:spPr>
          <a:xfrm>
            <a:off x="4572000" y="1005840"/>
            <a:ext cx="4206240" cy="365760"/>
          </a:xfrm>
          <a:prstGeom prst="rect">
            <a:avLst/>
          </a:prstGeom>
          <a:noFill/>
          <a:ln/>
        </p:spPr>
        <p:txBody>
          <a:bodyPr wrap="square" lIns="0" tIns="0" rIns="0" bIns="0"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7 Test Conditions</a:t>
            </a:r>
            <a:endParaRPr lang="en-US" sz="1600" dirty="0"/>
          </a:p>
        </p:txBody>
      </p:sp>
      <p:pic>
        <p:nvPicPr>
          <p:cNvPr id="19" name="Image 0" descr="preencoded.png"/>
          <p:cNvPicPr>
            <a:picLocks noChangeAspect="1"/>
          </p:cNvPicPr>
          <p:nvPr/>
        </p:nvPicPr>
        <p:blipFill>
          <a:blip r:embed="rId3"/>
          <a:stretch>
            <a:fillRect/>
          </a:stretch>
        </p:blipFill>
        <p:spPr>
          <a:xfrm>
            <a:off x="4572000" y="1508760"/>
            <a:ext cx="274320" cy="274320"/>
          </a:xfrm>
          <a:prstGeom prst="rect">
            <a:avLst/>
          </a:prstGeom>
        </p:spPr>
      </p:pic>
      <p:sp>
        <p:nvSpPr>
          <p:cNvPr id="20" name="Text 17"/>
          <p:cNvSpPr/>
          <p:nvPr/>
        </p:nvSpPr>
        <p:spPr>
          <a:xfrm>
            <a:off x="4937760" y="1463040"/>
            <a:ext cx="384048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Gender (Male / Female)</a:t>
            </a:r>
            <a:endParaRPr lang="en-US" sz="1300" dirty="0"/>
          </a:p>
        </p:txBody>
      </p:sp>
      <p:pic>
        <p:nvPicPr>
          <p:cNvPr id="21" name="Image 1" descr="preencoded.png"/>
          <p:cNvPicPr>
            <a:picLocks noChangeAspect="1"/>
          </p:cNvPicPr>
          <p:nvPr/>
        </p:nvPicPr>
        <p:blipFill>
          <a:blip r:embed="rId3"/>
          <a:stretch>
            <a:fillRect/>
          </a:stretch>
        </p:blipFill>
        <p:spPr>
          <a:xfrm>
            <a:off x="4572000" y="1965960"/>
            <a:ext cx="274320" cy="274320"/>
          </a:xfrm>
          <a:prstGeom prst="rect">
            <a:avLst/>
          </a:prstGeom>
        </p:spPr>
      </p:pic>
      <p:sp>
        <p:nvSpPr>
          <p:cNvPr id="22" name="Text 18"/>
          <p:cNvSpPr/>
          <p:nvPr/>
        </p:nvSpPr>
        <p:spPr>
          <a:xfrm>
            <a:off x="4937760" y="1920240"/>
            <a:ext cx="384048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Noise Level (Clean / Moderate / High)</a:t>
            </a:r>
            <a:endParaRPr lang="en-US" sz="1300" dirty="0"/>
          </a:p>
        </p:txBody>
      </p:sp>
      <p:pic>
        <p:nvPicPr>
          <p:cNvPr id="23" name="Image 2" descr="preencoded.png"/>
          <p:cNvPicPr>
            <a:picLocks noChangeAspect="1"/>
          </p:cNvPicPr>
          <p:nvPr/>
        </p:nvPicPr>
        <p:blipFill>
          <a:blip r:embed="rId3"/>
          <a:stretch>
            <a:fillRect/>
          </a:stretch>
        </p:blipFill>
        <p:spPr>
          <a:xfrm>
            <a:off x="4572000" y="2423160"/>
            <a:ext cx="274320" cy="274320"/>
          </a:xfrm>
          <a:prstGeom prst="rect">
            <a:avLst/>
          </a:prstGeom>
        </p:spPr>
      </p:pic>
      <p:sp>
        <p:nvSpPr>
          <p:cNvPr id="24" name="Text 19"/>
          <p:cNvSpPr/>
          <p:nvPr/>
        </p:nvSpPr>
        <p:spPr>
          <a:xfrm>
            <a:off x="4937760" y="2377440"/>
            <a:ext cx="384048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Dialect (Central Tigray / Raya)</a:t>
            </a:r>
            <a:endParaRPr lang="en-US" sz="1300" dirty="0"/>
          </a:p>
        </p:txBody>
      </p:sp>
      <p:pic>
        <p:nvPicPr>
          <p:cNvPr id="25" name="Image 3" descr="preencoded.png"/>
          <p:cNvPicPr>
            <a:picLocks noChangeAspect="1"/>
          </p:cNvPicPr>
          <p:nvPr/>
        </p:nvPicPr>
        <p:blipFill>
          <a:blip r:embed="rId3"/>
          <a:stretch>
            <a:fillRect/>
          </a:stretch>
        </p:blipFill>
        <p:spPr>
          <a:xfrm>
            <a:off x="4572000" y="2872740"/>
            <a:ext cx="274320" cy="274320"/>
          </a:xfrm>
          <a:prstGeom prst="rect">
            <a:avLst/>
          </a:prstGeom>
        </p:spPr>
      </p:pic>
      <p:sp>
        <p:nvSpPr>
          <p:cNvPr id="26" name="Text 20"/>
          <p:cNvSpPr/>
          <p:nvPr/>
        </p:nvSpPr>
        <p:spPr>
          <a:xfrm>
            <a:off x="4937760" y="2834640"/>
            <a:ext cx="384048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Speech Style (Read / Broadcast / Spontaneous)</a:t>
            </a:r>
            <a:endParaRPr lang="en-US" sz="1300" dirty="0"/>
          </a:p>
        </p:txBody>
      </p:sp>
      <p:pic>
        <p:nvPicPr>
          <p:cNvPr id="27" name="Image 4" descr="preencoded.png"/>
          <p:cNvPicPr>
            <a:picLocks noChangeAspect="1"/>
          </p:cNvPicPr>
          <p:nvPr/>
        </p:nvPicPr>
        <p:blipFill>
          <a:blip r:embed="rId3"/>
          <a:stretch>
            <a:fillRect/>
          </a:stretch>
        </p:blipFill>
        <p:spPr>
          <a:xfrm>
            <a:off x="4572000" y="3337560"/>
            <a:ext cx="274320" cy="274320"/>
          </a:xfrm>
          <a:prstGeom prst="rect">
            <a:avLst/>
          </a:prstGeom>
        </p:spPr>
      </p:pic>
      <p:sp>
        <p:nvSpPr>
          <p:cNvPr id="28" name="Text 21"/>
          <p:cNvSpPr/>
          <p:nvPr/>
        </p:nvSpPr>
        <p:spPr>
          <a:xfrm>
            <a:off x="4937760" y="3291840"/>
            <a:ext cx="384048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Utterance Length (Short / Long)</a:t>
            </a:r>
            <a:endParaRPr lang="en-US" sz="1300" dirty="0"/>
          </a:p>
        </p:txBody>
      </p:sp>
      <p:pic>
        <p:nvPicPr>
          <p:cNvPr id="29" name="Image 5" descr="preencoded.png"/>
          <p:cNvPicPr>
            <a:picLocks noChangeAspect="1"/>
          </p:cNvPicPr>
          <p:nvPr/>
        </p:nvPicPr>
        <p:blipFill>
          <a:blip r:embed="rId3"/>
          <a:stretch>
            <a:fillRect/>
          </a:stretch>
        </p:blipFill>
        <p:spPr>
          <a:xfrm>
            <a:off x="4572000" y="3794760"/>
            <a:ext cx="274320" cy="274320"/>
          </a:xfrm>
          <a:prstGeom prst="rect">
            <a:avLst/>
          </a:prstGeom>
        </p:spPr>
      </p:pic>
      <p:sp>
        <p:nvSpPr>
          <p:cNvPr id="30" name="Text 22"/>
          <p:cNvSpPr/>
          <p:nvPr/>
        </p:nvSpPr>
        <p:spPr>
          <a:xfrm>
            <a:off x="4937760" y="3749040"/>
            <a:ext cx="384048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Code-Switching (Tigrinya–English)</a:t>
            </a:r>
            <a:endParaRPr lang="en-US" sz="1300" dirty="0"/>
          </a:p>
        </p:txBody>
      </p:sp>
      <p:pic>
        <p:nvPicPr>
          <p:cNvPr id="31" name="Image 6" descr="preencoded.png"/>
          <p:cNvPicPr>
            <a:picLocks noChangeAspect="1"/>
          </p:cNvPicPr>
          <p:nvPr/>
        </p:nvPicPr>
        <p:blipFill>
          <a:blip r:embed="rId3"/>
          <a:stretch>
            <a:fillRect/>
          </a:stretch>
        </p:blipFill>
        <p:spPr>
          <a:xfrm>
            <a:off x="4572000" y="4251960"/>
            <a:ext cx="274320" cy="274320"/>
          </a:xfrm>
          <a:prstGeom prst="rect">
            <a:avLst/>
          </a:prstGeom>
        </p:spPr>
      </p:pic>
      <p:sp>
        <p:nvSpPr>
          <p:cNvPr id="32" name="Text 23"/>
          <p:cNvSpPr/>
          <p:nvPr/>
        </p:nvSpPr>
        <p:spPr>
          <a:xfrm>
            <a:off x="4937760" y="4206240"/>
            <a:ext cx="384048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Broadcast News</a:t>
            </a:r>
            <a:endParaRPr lang="en-US" sz="1300" dirty="0"/>
          </a:p>
        </p:txBody>
      </p:sp>
      <p:sp>
        <p:nvSpPr>
          <p:cNvPr id="33" name="Text 24"/>
          <p:cNvSpPr/>
          <p:nvPr/>
        </p:nvSpPr>
        <p:spPr>
          <a:xfrm>
            <a:off x="4572000" y="4663440"/>
            <a:ext cx="4206240" cy="347472"/>
          </a:xfrm>
          <a:prstGeom prst="rect">
            <a:avLst/>
          </a:prstGeom>
          <a:noFill/>
          <a:ln/>
        </p:spPr>
        <p:txBody>
          <a:bodyPr wrap="square" lIns="0" tIns="0" rIns="0" bIns="0" rtlCol="0" anchor="ctr"/>
          <a:lstStyle/>
          <a:p>
            <a:pPr marL="0" indent="0">
              <a:buNone/>
            </a:pPr>
            <a:r>
              <a:rPr lang="en-US" sz="1400" b="1" dirty="0">
                <a:solidFill>
                  <a:srgbClr val="FFC107"/>
                </a:solidFill>
                <a:latin typeface="Calibri" pitchFamily="34" charset="0"/>
                <a:ea typeface="Calibri" pitchFamily="34" charset="-122"/>
                <a:cs typeface="Calibri" pitchFamily="34" charset="-120"/>
              </a:rPr>
              <a:t>Metrics: WER  |  CER  |  PIER</a:t>
            </a:r>
            <a:endParaRPr lang="en-US" sz="1400" dirty="0"/>
          </a:p>
        </p:txBody>
      </p:sp>
      <p:sp>
        <p:nvSpPr>
          <p:cNvPr id="34" name="Text 25"/>
          <p:cNvSpPr/>
          <p:nvPr/>
        </p:nvSpPr>
        <p:spPr>
          <a:xfrm>
            <a:off x="365760" y="4704588"/>
            <a:ext cx="4206240" cy="274320"/>
          </a:xfrm>
          <a:prstGeom prst="rect">
            <a:avLst/>
          </a:prstGeom>
          <a:noFill/>
          <a:ln/>
        </p:spPr>
        <p:txBody>
          <a:bodyPr wrap="square" lIns="0" tIns="0" rIns="0" bIns="0" rtlCol="0" anchor="ctr"/>
          <a:lstStyle/>
          <a:p>
            <a:pPr marL="0" indent="0">
              <a:buNone/>
            </a:pPr>
            <a:r>
              <a:rPr lang="en-US" sz="1100" dirty="0">
                <a:solidFill>
                  <a:srgbClr val="92D050"/>
                </a:solidFill>
                <a:latin typeface="Calibri" pitchFamily="34" charset="0"/>
                <a:ea typeface="Calibri" pitchFamily="34" charset="-122"/>
                <a:cs typeface="Calibri" pitchFamily="34" charset="-120"/>
              </a:rPr>
              <a:t>Tools: Google Colab  |  Kaggle GPU  |  HuggingFace  |  jiwer library</a:t>
            </a:r>
            <a:endParaRPr lang="en-US" sz="1100" dirty="0">
              <a:solidFill>
                <a:srgbClr val="92D050"/>
              </a:solidFill>
            </a:endParaRP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1628"/>
          </a:solidFill>
          <a:ln w="12700">
            <a:solidFill>
              <a:srgbClr val="0A1628"/>
            </a:solidFill>
            <a:prstDash val="solid"/>
          </a:ln>
        </p:spPr>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800" b="1" dirty="0">
                <a:solidFill>
                  <a:srgbClr val="0A1628"/>
                </a:solidFill>
                <a:latin typeface="Calibri" pitchFamily="34" charset="0"/>
                <a:ea typeface="Calibri" pitchFamily="34" charset="-122"/>
                <a:cs typeface="Calibri" pitchFamily="34" charset="-120"/>
              </a:rPr>
              <a:t>Result 1: Dialect &amp; Noise Collapse</a:t>
            </a:r>
            <a:endParaRPr lang="en-US" sz="2800" dirty="0"/>
          </a:p>
        </p:txBody>
      </p:sp>
      <p:sp>
        <p:nvSpPr>
          <p:cNvPr id="4" name="Shape 2"/>
          <p:cNvSpPr/>
          <p:nvPr/>
        </p:nvSpPr>
        <p:spPr>
          <a:xfrm>
            <a:off x="457200" y="886968"/>
            <a:ext cx="8229600" cy="22860"/>
          </a:xfrm>
          <a:prstGeom prst="rect">
            <a:avLst/>
          </a:prstGeom>
          <a:solidFill>
            <a:srgbClr val="00B4D8"/>
          </a:solidFill>
          <a:ln w="12700">
            <a:solidFill>
              <a:srgbClr val="00B4D8"/>
            </a:solidFill>
            <a:prstDash val="solid"/>
          </a:ln>
        </p:spPr>
      </p:sp>
      <p:graphicFrame>
        <p:nvGraphicFramePr>
          <p:cNvPr id="5" name="Chart 0"/>
          <p:cNvGraphicFramePr/>
          <p:nvPr>
            <p:extLst>
              <p:ext uri="{D42A27DB-BD31-4B8C-83A1-F6EECF244321}">
                <p14:modId xmlns:p14="http://schemas.microsoft.com/office/powerpoint/2010/main" val="1285558299"/>
              </p:ext>
            </p:extLst>
          </p:nvPr>
        </p:nvGraphicFramePr>
        <p:xfrm>
          <a:off x="365760" y="1005840"/>
          <a:ext cx="54864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126480" y="1097280"/>
            <a:ext cx="73152" cy="731520"/>
          </a:xfrm>
          <a:prstGeom prst="rect">
            <a:avLst/>
          </a:prstGeom>
          <a:solidFill>
            <a:srgbClr val="E53935"/>
          </a:solidFill>
          <a:ln w="12700">
            <a:solidFill>
              <a:srgbClr val="E53935"/>
            </a:solidFill>
            <a:prstDash val="solid"/>
          </a:ln>
        </p:spPr>
      </p:sp>
      <p:sp>
        <p:nvSpPr>
          <p:cNvPr id="7" name="Text 4"/>
          <p:cNvSpPr/>
          <p:nvPr/>
        </p:nvSpPr>
        <p:spPr>
          <a:xfrm>
            <a:off x="6291072" y="1143000"/>
            <a:ext cx="2606040" cy="685800"/>
          </a:xfrm>
          <a:prstGeom prst="rect">
            <a:avLst/>
          </a:prstGeom>
          <a:noFill/>
          <a:ln/>
        </p:spPr>
        <p:txBody>
          <a:bodyPr wrap="square" lIns="0" tIns="0" rIns="0" bIns="0" rtlCol="0" anchor="ctr"/>
          <a:lstStyle/>
          <a:p>
            <a:pPr marL="0" indent="0">
              <a:buNone/>
            </a:pPr>
            <a:r>
              <a:rPr lang="en-US" sz="1300" dirty="0">
                <a:solidFill>
                  <a:srgbClr val="0A1628"/>
                </a:solidFill>
                <a:latin typeface="Calibri" pitchFamily="34" charset="0"/>
                <a:ea typeface="Calibri" pitchFamily="34" charset="-122"/>
                <a:cs typeface="Calibri" pitchFamily="34" charset="-120"/>
              </a:rPr>
              <a:t>Raya dialect: WER 0.87–1.00 across ALL models</a:t>
            </a:r>
            <a:endParaRPr lang="en-US" sz="1300" dirty="0"/>
          </a:p>
        </p:txBody>
      </p:sp>
      <p:sp>
        <p:nvSpPr>
          <p:cNvPr id="8" name="Shape 5"/>
          <p:cNvSpPr/>
          <p:nvPr/>
        </p:nvSpPr>
        <p:spPr>
          <a:xfrm>
            <a:off x="6126480" y="2029968"/>
            <a:ext cx="73152" cy="731520"/>
          </a:xfrm>
          <a:prstGeom prst="rect">
            <a:avLst/>
          </a:prstGeom>
          <a:solidFill>
            <a:srgbClr val="FF6B35"/>
          </a:solidFill>
          <a:ln w="12700">
            <a:solidFill>
              <a:srgbClr val="FF6B35"/>
            </a:solidFill>
            <a:prstDash val="solid"/>
          </a:ln>
        </p:spPr>
      </p:sp>
      <p:sp>
        <p:nvSpPr>
          <p:cNvPr id="9" name="Text 6"/>
          <p:cNvSpPr/>
          <p:nvPr/>
        </p:nvSpPr>
        <p:spPr>
          <a:xfrm>
            <a:off x="6291072" y="2075688"/>
            <a:ext cx="2606040" cy="685800"/>
          </a:xfrm>
          <a:prstGeom prst="rect">
            <a:avLst/>
          </a:prstGeom>
          <a:noFill/>
          <a:ln/>
        </p:spPr>
        <p:txBody>
          <a:bodyPr wrap="square" lIns="0" tIns="0" rIns="0" bIns="0" rtlCol="0" anchor="ctr"/>
          <a:lstStyle/>
          <a:p>
            <a:pPr marL="0" indent="0">
              <a:buNone/>
            </a:pPr>
            <a:r>
              <a:rPr lang="en-US" sz="1300" dirty="0">
                <a:solidFill>
                  <a:srgbClr val="0A1628"/>
                </a:solidFill>
                <a:latin typeface="Calibri" pitchFamily="34" charset="0"/>
                <a:ea typeface="Calibri" pitchFamily="34" charset="-122"/>
                <a:cs typeface="Calibri" pitchFamily="34" charset="-120"/>
              </a:rPr>
              <a:t>High noise: near-complete collapse (WER ~0.97)</a:t>
            </a:r>
            <a:endParaRPr lang="en-US" sz="1300" dirty="0"/>
          </a:p>
        </p:txBody>
      </p:sp>
      <p:sp>
        <p:nvSpPr>
          <p:cNvPr id="10" name="Shape 7"/>
          <p:cNvSpPr/>
          <p:nvPr/>
        </p:nvSpPr>
        <p:spPr>
          <a:xfrm>
            <a:off x="6126480" y="2962656"/>
            <a:ext cx="73152" cy="731520"/>
          </a:xfrm>
          <a:prstGeom prst="rect">
            <a:avLst/>
          </a:prstGeom>
          <a:solidFill>
            <a:srgbClr val="00C853"/>
          </a:solidFill>
          <a:ln w="12700">
            <a:solidFill>
              <a:srgbClr val="00C853"/>
            </a:solidFill>
            <a:prstDash val="solid"/>
          </a:ln>
        </p:spPr>
      </p:sp>
      <p:sp>
        <p:nvSpPr>
          <p:cNvPr id="11" name="Text 8"/>
          <p:cNvSpPr/>
          <p:nvPr/>
        </p:nvSpPr>
        <p:spPr>
          <a:xfrm>
            <a:off x="6291072" y="3008376"/>
            <a:ext cx="2606040" cy="685800"/>
          </a:xfrm>
          <a:prstGeom prst="rect">
            <a:avLst/>
          </a:prstGeom>
          <a:noFill/>
          <a:ln/>
        </p:spPr>
        <p:txBody>
          <a:bodyPr wrap="square" lIns="0" tIns="0" rIns="0" bIns="0" rtlCol="0" anchor="ctr"/>
          <a:lstStyle/>
          <a:p>
            <a:pPr marL="0" indent="0">
              <a:buNone/>
            </a:pPr>
            <a:r>
              <a:rPr lang="en-US" sz="1300" dirty="0">
                <a:solidFill>
                  <a:srgbClr val="0A1628"/>
                </a:solidFill>
                <a:latin typeface="Calibri" pitchFamily="34" charset="0"/>
                <a:ea typeface="Calibri" pitchFamily="34" charset="-122"/>
                <a:cs typeface="Calibri" pitchFamily="34" charset="-120"/>
              </a:rPr>
              <a:t>Badrex: best on clean speech (WER 0.10–0.18)</a:t>
            </a:r>
            <a:endParaRPr lang="en-US" sz="1300" dirty="0"/>
          </a:p>
        </p:txBody>
      </p:sp>
      <p:sp>
        <p:nvSpPr>
          <p:cNvPr id="12" name="Shape 9"/>
          <p:cNvSpPr/>
          <p:nvPr/>
        </p:nvSpPr>
        <p:spPr>
          <a:xfrm>
            <a:off x="6126480" y="3895344"/>
            <a:ext cx="73152" cy="731520"/>
          </a:xfrm>
          <a:prstGeom prst="rect">
            <a:avLst/>
          </a:prstGeom>
          <a:solidFill>
            <a:srgbClr val="00B4D8"/>
          </a:solidFill>
          <a:ln w="12700">
            <a:solidFill>
              <a:srgbClr val="00B4D8"/>
            </a:solidFill>
            <a:prstDash val="solid"/>
          </a:ln>
        </p:spPr>
      </p:sp>
      <p:sp>
        <p:nvSpPr>
          <p:cNvPr id="13" name="Text 10"/>
          <p:cNvSpPr/>
          <p:nvPr/>
        </p:nvSpPr>
        <p:spPr>
          <a:xfrm>
            <a:off x="6291072" y="3941064"/>
            <a:ext cx="2606040" cy="685800"/>
          </a:xfrm>
          <a:prstGeom prst="rect">
            <a:avLst/>
          </a:prstGeom>
          <a:noFill/>
          <a:ln/>
        </p:spPr>
        <p:txBody>
          <a:bodyPr wrap="square" lIns="0" tIns="0" rIns="0" bIns="0" rtlCol="0" anchor="ctr"/>
          <a:lstStyle/>
          <a:p>
            <a:pPr marL="0" indent="0">
              <a:buNone/>
            </a:pPr>
            <a:r>
              <a:rPr lang="en-US" sz="1300" dirty="0">
                <a:solidFill>
                  <a:srgbClr val="0A1628"/>
                </a:solidFill>
                <a:latin typeface="Calibri" pitchFamily="34" charset="0"/>
                <a:ea typeface="Calibri" pitchFamily="34" charset="-122"/>
                <a:cs typeface="Calibri" pitchFamily="34" charset="-120"/>
              </a:rPr>
              <a:t>Models sometimes produce hallucinated output for the Raya dialect</a:t>
            </a:r>
            <a:endParaRPr lang="en-US" sz="1300" dirty="0"/>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Result 2: Code-Switching &amp; Utterance Length</a:t>
            </a:r>
            <a:endParaRPr lang="en-US" sz="2800" dirty="0"/>
          </a:p>
        </p:txBody>
      </p:sp>
      <p:sp>
        <p:nvSpPr>
          <p:cNvPr id="4" name="Shape 2"/>
          <p:cNvSpPr/>
          <p:nvPr/>
        </p:nvSpPr>
        <p:spPr>
          <a:xfrm>
            <a:off x="457200" y="886968"/>
            <a:ext cx="8229600" cy="22860"/>
          </a:xfrm>
          <a:prstGeom prst="rect">
            <a:avLst/>
          </a:prstGeom>
          <a:solidFill>
            <a:srgbClr val="00B4D8"/>
          </a:solidFill>
          <a:ln w="12700">
            <a:solidFill>
              <a:srgbClr val="00B4D8"/>
            </a:solidFill>
            <a:prstDash val="solid"/>
          </a:ln>
        </p:spPr>
      </p:sp>
      <p:graphicFrame>
        <p:nvGraphicFramePr>
          <p:cNvPr id="5" name="Chart 0"/>
          <p:cNvGraphicFramePr/>
          <p:nvPr>
            <p:extLst>
              <p:ext uri="{D42A27DB-BD31-4B8C-83A1-F6EECF244321}">
                <p14:modId xmlns:p14="http://schemas.microsoft.com/office/powerpoint/2010/main" val="2854823694"/>
              </p:ext>
            </p:extLst>
          </p:nvPr>
        </p:nvGraphicFramePr>
        <p:xfrm>
          <a:off x="365760" y="1005840"/>
          <a:ext cx="4442460" cy="32842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669280" y="1572768"/>
            <a:ext cx="3200400" cy="1444752"/>
          </a:xfrm>
          <a:prstGeom prst="rect">
            <a:avLst/>
          </a:prstGeom>
          <a:solidFill>
            <a:srgbClr val="0F2040"/>
          </a:solidFill>
          <a:ln/>
          <a:effectLst>
            <a:outerShdw blurRad="101600" dist="25400" dir="8100000" algn="bl" rotWithShape="0">
              <a:srgbClr val="000000">
                <a:alpha val="18000"/>
              </a:srgbClr>
            </a:outerShdw>
          </a:effectLst>
        </p:spPr>
        <p:txBody>
          <a:bodyPr/>
          <a:lstStyle/>
          <a:p>
            <a:endParaRPr lang="en-US" dirty="0"/>
          </a:p>
        </p:txBody>
      </p:sp>
      <p:sp>
        <p:nvSpPr>
          <p:cNvPr id="7" name="Text 4"/>
          <p:cNvSpPr/>
          <p:nvPr/>
        </p:nvSpPr>
        <p:spPr>
          <a:xfrm>
            <a:off x="5852160" y="1097280"/>
            <a:ext cx="2834640" cy="384048"/>
          </a:xfrm>
          <a:prstGeom prst="rect">
            <a:avLst/>
          </a:prstGeom>
          <a:noFill/>
          <a:ln/>
        </p:spPr>
        <p:txBody>
          <a:bodyPr wrap="square" lIns="0" tIns="0" rIns="0" bIns="0" rtlCol="0" anchor="ctr"/>
          <a:lstStyle/>
          <a:p>
            <a:pPr marL="0" indent="0">
              <a:buNone/>
            </a:pPr>
            <a:endParaRPr lang="en-US" sz="1500" dirty="0"/>
          </a:p>
        </p:txBody>
      </p:sp>
      <p:sp>
        <p:nvSpPr>
          <p:cNvPr id="8" name="Text 5"/>
          <p:cNvSpPr/>
          <p:nvPr/>
        </p:nvSpPr>
        <p:spPr>
          <a:xfrm>
            <a:off x="5806440" y="1691640"/>
            <a:ext cx="2834640" cy="1371600"/>
          </a:xfrm>
          <a:prstGeom prst="rect">
            <a:avLst/>
          </a:prstGeom>
          <a:noFill/>
          <a:ln/>
        </p:spPr>
        <p:txBody>
          <a:bodyPr wrap="square" lIns="0" tIns="0" rIns="0" bIns="0" rtlCol="0" anchor="ctr"/>
          <a:lstStyle/>
          <a:p>
            <a:pPr marL="0" indent="0">
              <a:buNone/>
            </a:pPr>
            <a:endParaRPr lang="en-US" sz="1200" dirty="0"/>
          </a:p>
        </p:txBody>
      </p:sp>
      <p:sp>
        <p:nvSpPr>
          <p:cNvPr id="9" name="Shape 6"/>
          <p:cNvSpPr/>
          <p:nvPr/>
        </p:nvSpPr>
        <p:spPr>
          <a:xfrm>
            <a:off x="365760" y="4617720"/>
            <a:ext cx="8412480" cy="457200"/>
          </a:xfrm>
          <a:prstGeom prst="rect">
            <a:avLst/>
          </a:prstGeom>
          <a:solidFill>
            <a:srgbClr val="0A1F3A"/>
          </a:solidFill>
          <a:ln/>
          <a:effectLst>
            <a:outerShdw blurRad="101600" dist="25400" dir="8100000" algn="bl" rotWithShape="0">
              <a:srgbClr val="000000">
                <a:alpha val="18000"/>
              </a:srgbClr>
            </a:outerShdw>
          </a:effectLst>
        </p:spPr>
      </p:sp>
      <p:sp>
        <p:nvSpPr>
          <p:cNvPr id="10" name="Text 7"/>
          <p:cNvSpPr/>
          <p:nvPr/>
        </p:nvSpPr>
        <p:spPr>
          <a:xfrm>
            <a:off x="457200" y="4381500"/>
            <a:ext cx="8138160" cy="644652"/>
          </a:xfrm>
          <a:prstGeom prst="rect">
            <a:avLst/>
          </a:prstGeom>
          <a:noFill/>
          <a:ln/>
        </p:spPr>
        <p:txBody>
          <a:bodyPr wrap="square" lIns="0" tIns="0" rIns="0" bIns="0" rtlCol="0" anchor="ctr"/>
          <a:lstStyle/>
          <a:p>
            <a:pPr marL="0" indent="0">
              <a:buNone/>
            </a:pPr>
            <a:r>
              <a:rPr lang="en-US" sz="1200" i="1" dirty="0">
                <a:solidFill>
                  <a:srgbClr val="FFC107"/>
                </a:solidFill>
                <a:latin typeface="Calibri" pitchFamily="34" charset="0"/>
                <a:ea typeface="Calibri" pitchFamily="34" charset="-122"/>
                <a:cs typeface="Calibri" pitchFamily="34" charset="-120"/>
              </a:rPr>
              <a:t>Example: "</a:t>
            </a:r>
            <a:r>
              <a:rPr lang="en-US" sz="1200" i="1" dirty="0" err="1">
                <a:solidFill>
                  <a:srgbClr val="FFC107"/>
                </a:solidFill>
                <a:latin typeface="Calibri" pitchFamily="34" charset="0"/>
                <a:ea typeface="Calibri" pitchFamily="34" charset="-122"/>
                <a:cs typeface="Calibri" pitchFamily="34" charset="-120"/>
              </a:rPr>
              <a:t>ሂወት</a:t>
            </a:r>
            <a:r>
              <a:rPr lang="en-US" sz="1200" i="1" dirty="0">
                <a:solidFill>
                  <a:srgbClr val="FFC107"/>
                </a:solidFill>
                <a:latin typeface="Calibri" pitchFamily="34" charset="0"/>
                <a:ea typeface="Calibri" pitchFamily="34" charset="-122"/>
                <a:cs typeface="Calibri" pitchFamily="34" charset="-120"/>
              </a:rPr>
              <a:t> is all about up and down </a:t>
            </a:r>
            <a:r>
              <a:rPr lang="en-US" sz="1200" i="1" dirty="0" err="1">
                <a:solidFill>
                  <a:srgbClr val="FFC107"/>
                </a:solidFill>
                <a:latin typeface="Calibri" pitchFamily="34" charset="0"/>
                <a:ea typeface="Calibri" pitchFamily="34" charset="-122"/>
                <a:cs typeface="Calibri" pitchFamily="34" charset="-120"/>
              </a:rPr>
              <a:t>ስለዚ</a:t>
            </a:r>
            <a:r>
              <a:rPr lang="en-US" sz="1200" i="1" dirty="0">
                <a:solidFill>
                  <a:srgbClr val="FFC107"/>
                </a:solidFill>
                <a:latin typeface="Calibri" pitchFamily="34" charset="0"/>
                <a:ea typeface="Calibri" pitchFamily="34" charset="-122"/>
                <a:cs typeface="Calibri" pitchFamily="34" charset="-120"/>
              </a:rPr>
              <a:t> </a:t>
            </a:r>
            <a:r>
              <a:rPr lang="en-US" sz="1200" i="1" dirty="0" err="1">
                <a:solidFill>
                  <a:srgbClr val="FFC107"/>
                </a:solidFill>
                <a:latin typeface="Calibri" pitchFamily="34" charset="0"/>
                <a:ea typeface="Calibri" pitchFamily="34" charset="-122"/>
                <a:cs typeface="Calibri" pitchFamily="34" charset="-120"/>
              </a:rPr>
              <a:t>ትዕግስቲ</a:t>
            </a:r>
            <a:r>
              <a:rPr lang="en-US" sz="1200" i="1" dirty="0">
                <a:solidFill>
                  <a:srgbClr val="FFC107"/>
                </a:solidFill>
                <a:latin typeface="Calibri" pitchFamily="34" charset="0"/>
                <a:ea typeface="Calibri" pitchFamily="34" charset="-122"/>
                <a:cs typeface="Calibri" pitchFamily="34" charset="-120"/>
              </a:rPr>
              <a:t>፣ </a:t>
            </a:r>
            <a:r>
              <a:rPr lang="en-US" sz="1200" i="1" dirty="0" err="1">
                <a:solidFill>
                  <a:srgbClr val="FFC107"/>
                </a:solidFill>
                <a:latin typeface="Calibri" pitchFamily="34" charset="0"/>
                <a:ea typeface="Calibri" pitchFamily="34" charset="-122"/>
                <a:cs typeface="Calibri" pitchFamily="34" charset="-120"/>
              </a:rPr>
              <a:t>ፅንዓት</a:t>
            </a:r>
            <a:r>
              <a:rPr lang="en-US" sz="1200" i="1" dirty="0">
                <a:solidFill>
                  <a:srgbClr val="FFC107"/>
                </a:solidFill>
                <a:latin typeface="Calibri" pitchFamily="34" charset="0"/>
                <a:ea typeface="Calibri" pitchFamily="34" charset="-122"/>
                <a:cs typeface="Calibri" pitchFamily="34" charset="-120"/>
              </a:rPr>
              <a:t> </a:t>
            </a:r>
            <a:r>
              <a:rPr lang="en-US" sz="1200" i="1" dirty="0" err="1">
                <a:solidFill>
                  <a:srgbClr val="FFC107"/>
                </a:solidFill>
                <a:latin typeface="Calibri" pitchFamily="34" charset="0"/>
                <a:ea typeface="Calibri" pitchFamily="34" charset="-122"/>
                <a:cs typeface="Calibri" pitchFamily="34" charset="-120"/>
              </a:rPr>
              <a:t>የድሊ</a:t>
            </a:r>
            <a:r>
              <a:rPr lang="en-US" sz="1200" i="1" dirty="0">
                <a:solidFill>
                  <a:srgbClr val="FFC107"/>
                </a:solidFill>
                <a:latin typeface="Calibri" pitchFamily="34" charset="0"/>
                <a:ea typeface="Calibri" pitchFamily="34" charset="-122"/>
                <a:cs typeface="Calibri" pitchFamily="34" charset="-120"/>
              </a:rPr>
              <a:t> </a:t>
            </a:r>
            <a:r>
              <a:rPr lang="en-US" sz="1200" i="1" dirty="0" err="1">
                <a:solidFill>
                  <a:srgbClr val="FFC107"/>
                </a:solidFill>
                <a:latin typeface="Calibri" pitchFamily="34" charset="0"/>
                <a:ea typeface="Calibri" pitchFamily="34" charset="-122"/>
                <a:cs typeface="Calibri" pitchFamily="34" charset="-120"/>
              </a:rPr>
              <a:t>እዩ</a:t>
            </a:r>
            <a:r>
              <a:rPr lang="en-US" sz="1200" i="1" dirty="0">
                <a:solidFill>
                  <a:srgbClr val="FFC107"/>
                </a:solidFill>
                <a:latin typeface="Calibri" pitchFamily="34" charset="0"/>
                <a:ea typeface="Calibri" pitchFamily="34" charset="-122"/>
                <a:cs typeface="Calibri" pitchFamily="34" charset="-120"/>
              </a:rPr>
              <a:t>" → MMS outputs "</a:t>
            </a:r>
            <a:r>
              <a:rPr lang="am-ET" sz="1200" i="1" dirty="0">
                <a:solidFill>
                  <a:srgbClr val="FFC107"/>
                </a:solidFill>
                <a:latin typeface="Calibri" pitchFamily="34" charset="0"/>
                <a:ea typeface="Calibri" pitchFamily="34" charset="-122"/>
                <a:cs typeface="Calibri" pitchFamily="34" charset="-120"/>
              </a:rPr>
              <a:t>ሕይወጥ ይስ ኦለባውት አብ የን ዳውን ለ ነዙይ ተዓግስቲ ፍንዓት የድሉ እዩ</a:t>
            </a:r>
            <a:r>
              <a:rPr lang="en-US" sz="1200" i="1" dirty="0">
                <a:solidFill>
                  <a:srgbClr val="FFC107"/>
                </a:solidFill>
                <a:latin typeface="Calibri" pitchFamily="34" charset="0"/>
                <a:ea typeface="Calibri" pitchFamily="34" charset="-122"/>
                <a:cs typeface="Calibri" pitchFamily="34" charset="-120"/>
              </a:rPr>
              <a:t>" — English words mapped to Tigrinya syllables</a:t>
            </a:r>
            <a:endParaRPr lang="en-US" sz="1200" dirty="0"/>
          </a:p>
        </p:txBody>
      </p:sp>
      <p:sp>
        <p:nvSpPr>
          <p:cNvPr id="11" name="Shape 8"/>
          <p:cNvSpPr/>
          <p:nvPr/>
        </p:nvSpPr>
        <p:spPr>
          <a:xfrm>
            <a:off x="5669280" y="3200400"/>
            <a:ext cx="3200400" cy="937260"/>
          </a:xfrm>
          <a:prstGeom prst="rect">
            <a:avLst/>
          </a:prstGeom>
          <a:solidFill>
            <a:srgbClr val="0F2040"/>
          </a:solidFill>
          <a:ln/>
          <a:effectLst>
            <a:outerShdw blurRad="101600" dist="25400" dir="8100000" algn="bl" rotWithShape="0">
              <a:srgbClr val="000000">
                <a:alpha val="18000"/>
              </a:srgbClr>
            </a:outerShdw>
          </a:effectLst>
        </p:spPr>
      </p:sp>
      <p:sp>
        <p:nvSpPr>
          <p:cNvPr id="12" name="Text 9"/>
          <p:cNvSpPr/>
          <p:nvPr/>
        </p:nvSpPr>
        <p:spPr>
          <a:xfrm>
            <a:off x="5852160" y="3291840"/>
            <a:ext cx="2834640" cy="347472"/>
          </a:xfrm>
          <a:prstGeom prst="rect">
            <a:avLst/>
          </a:prstGeom>
          <a:noFill/>
          <a:ln/>
        </p:spPr>
        <p:txBody>
          <a:bodyPr wrap="square" lIns="0" tIns="0" rIns="0" bIns="0" rtlCol="0" anchor="ctr"/>
          <a:lstStyle/>
          <a:p>
            <a:pPr marL="0" indent="0">
              <a:buNone/>
            </a:pPr>
            <a:endParaRPr lang="en-US" sz="1300" dirty="0"/>
          </a:p>
        </p:txBody>
      </p:sp>
      <p:sp>
        <p:nvSpPr>
          <p:cNvPr id="13" name="Text 10"/>
          <p:cNvSpPr/>
          <p:nvPr/>
        </p:nvSpPr>
        <p:spPr>
          <a:xfrm>
            <a:off x="5852160" y="3657600"/>
            <a:ext cx="2834640" cy="804672"/>
          </a:xfrm>
          <a:prstGeom prst="rect">
            <a:avLst/>
          </a:prstGeom>
          <a:noFill/>
          <a:ln/>
        </p:spPr>
        <p:txBody>
          <a:bodyPr wrap="square" lIns="0" tIns="0" rIns="0" bIns="0" rtlCol="0" anchor="ctr"/>
          <a:lstStyle/>
          <a:p>
            <a:pPr marL="0" indent="0">
              <a:buNone/>
            </a:pPr>
            <a:endParaRPr lang="en-US" sz="1200" dirty="0"/>
          </a:p>
        </p:txBody>
      </p:sp>
      <p:graphicFrame>
        <p:nvGraphicFramePr>
          <p:cNvPr id="15" name="Chart 1">
            <a:extLst>
              <a:ext uri="{FF2B5EF4-FFF2-40B4-BE49-F238E27FC236}">
                <a16:creationId xmlns:a16="http://schemas.microsoft.com/office/drawing/2014/main" id="{DBD62036-F213-BA07-A680-6B6F49950A09}"/>
              </a:ext>
            </a:extLst>
          </p:cNvPr>
          <p:cNvGraphicFramePr/>
          <p:nvPr>
            <p:extLst>
              <p:ext uri="{D42A27DB-BD31-4B8C-83A1-F6EECF244321}">
                <p14:modId xmlns:p14="http://schemas.microsoft.com/office/powerpoint/2010/main" val="3702063420"/>
              </p:ext>
            </p:extLst>
          </p:nvPr>
        </p:nvGraphicFramePr>
        <p:xfrm>
          <a:off x="5105400" y="1476756"/>
          <a:ext cx="3764280" cy="2660904"/>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1628"/>
          </a:solidFill>
          <a:ln w="12700">
            <a:solidFill>
              <a:srgbClr val="0A1628"/>
            </a:solidFill>
            <a:prstDash val="solid"/>
          </a:ln>
        </p:spPr>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800" b="1" dirty="0">
                <a:solidFill>
                  <a:srgbClr val="0A1628"/>
                </a:solidFill>
                <a:latin typeface="Calibri" pitchFamily="34" charset="0"/>
                <a:ea typeface="Calibri" pitchFamily="34" charset="-122"/>
                <a:cs typeface="Calibri" pitchFamily="34" charset="-120"/>
              </a:rPr>
              <a:t>Result 3: Gender Bias &amp; Speech Factors</a:t>
            </a:r>
            <a:endParaRPr lang="en-US" sz="2800" dirty="0"/>
          </a:p>
        </p:txBody>
      </p:sp>
      <p:sp>
        <p:nvSpPr>
          <p:cNvPr id="4" name="Shape 2"/>
          <p:cNvSpPr/>
          <p:nvPr/>
        </p:nvSpPr>
        <p:spPr>
          <a:xfrm>
            <a:off x="457200" y="886968"/>
            <a:ext cx="8229600" cy="22860"/>
          </a:xfrm>
          <a:prstGeom prst="rect">
            <a:avLst/>
          </a:prstGeom>
          <a:solidFill>
            <a:srgbClr val="00B4D8"/>
          </a:solidFill>
          <a:ln w="12700">
            <a:solidFill>
              <a:srgbClr val="00B4D8"/>
            </a:solidFill>
            <a:prstDash val="solid"/>
          </a:ln>
        </p:spPr>
      </p:sp>
      <p:graphicFrame>
        <p:nvGraphicFramePr>
          <p:cNvPr id="5" name="Chart 0"/>
          <p:cNvGraphicFramePr/>
          <p:nvPr>
            <p:extLst>
              <p:ext uri="{D42A27DB-BD31-4B8C-83A1-F6EECF244321}">
                <p14:modId xmlns:p14="http://schemas.microsoft.com/office/powerpoint/2010/main" val="254073152"/>
              </p:ext>
            </p:extLst>
          </p:nvPr>
        </p:nvGraphicFramePr>
        <p:xfrm>
          <a:off x="502920" y="1005840"/>
          <a:ext cx="3870960" cy="2418588"/>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365760" y="3730752"/>
            <a:ext cx="2377440" cy="1252728"/>
          </a:xfrm>
          <a:prstGeom prst="rect">
            <a:avLst/>
          </a:prstGeom>
          <a:solidFill>
            <a:srgbClr val="0A1628"/>
          </a:solidFill>
          <a:ln/>
          <a:effectLst>
            <a:outerShdw blurRad="101600" dist="25400" dir="8100000" algn="bl" rotWithShape="0">
              <a:srgbClr val="000000">
                <a:alpha val="18000"/>
              </a:srgbClr>
            </a:outerShdw>
          </a:effectLst>
        </p:spPr>
      </p:sp>
      <p:sp>
        <p:nvSpPr>
          <p:cNvPr id="7" name="Text 4"/>
          <p:cNvSpPr/>
          <p:nvPr/>
        </p:nvSpPr>
        <p:spPr>
          <a:xfrm>
            <a:off x="502920" y="3639312"/>
            <a:ext cx="2103120" cy="347472"/>
          </a:xfrm>
          <a:prstGeom prst="rect">
            <a:avLst/>
          </a:prstGeom>
          <a:noFill/>
          <a:ln/>
        </p:spPr>
        <p:txBody>
          <a:bodyPr wrap="square" lIns="0" tIns="0" rIns="0" bIns="0" rtlCol="0" anchor="ctr"/>
          <a:lstStyle/>
          <a:p>
            <a:pPr marL="0" indent="0">
              <a:buNone/>
            </a:pPr>
            <a:endParaRPr lang="en-US" sz="1500" b="1" dirty="0">
              <a:solidFill>
                <a:srgbClr val="FFFFFF"/>
              </a:solidFill>
              <a:latin typeface="Calibri" pitchFamily="34" charset="0"/>
              <a:ea typeface="Calibri" pitchFamily="34" charset="-122"/>
              <a:cs typeface="Calibri" pitchFamily="34" charset="-120"/>
            </a:endParaRPr>
          </a:p>
          <a:p>
            <a:pPr marL="0" indent="0">
              <a:buNone/>
            </a:pPr>
            <a:r>
              <a:rPr lang="en-US" sz="1500" b="1" dirty="0">
                <a:solidFill>
                  <a:srgbClr val="FFFFFF"/>
                </a:solidFill>
                <a:latin typeface="Calibri" pitchFamily="34" charset="0"/>
                <a:ea typeface="Calibri" pitchFamily="34" charset="-122"/>
                <a:cs typeface="Calibri" pitchFamily="34" charset="-120"/>
              </a:rPr>
              <a:t>MMS</a:t>
            </a:r>
            <a:endParaRPr lang="en-US" sz="1500" dirty="0"/>
          </a:p>
        </p:txBody>
      </p:sp>
      <p:sp>
        <p:nvSpPr>
          <p:cNvPr id="8" name="Text 5"/>
          <p:cNvSpPr/>
          <p:nvPr/>
        </p:nvSpPr>
        <p:spPr>
          <a:xfrm>
            <a:off x="502920" y="3986784"/>
            <a:ext cx="2103120" cy="914400"/>
          </a:xfrm>
          <a:prstGeom prst="rect">
            <a:avLst/>
          </a:prstGeom>
          <a:noFill/>
          <a:ln/>
        </p:spPr>
        <p:txBody>
          <a:bodyPr wrap="square" lIns="0" tIns="0" rIns="0" bIns="0" rtlCol="0" anchor="ctr"/>
          <a:lstStyle/>
          <a:p>
            <a:pPr marL="0" indent="0">
              <a:buNone/>
            </a:pPr>
            <a:r>
              <a:rPr lang="en-US" sz="1300" dirty="0">
                <a:solidFill>
                  <a:srgbClr val="8899AA"/>
                </a:solidFill>
                <a:latin typeface="Calibri" pitchFamily="34" charset="0"/>
                <a:ea typeface="Calibri" pitchFamily="34" charset="-122"/>
                <a:cs typeface="Calibri" pitchFamily="34" charset="-120"/>
              </a:rPr>
              <a:t>Female favored</a:t>
            </a:r>
            <a:endParaRPr lang="en-US" sz="1300" dirty="0"/>
          </a:p>
          <a:p>
            <a:pPr marL="0" indent="0">
              <a:buNone/>
            </a:pPr>
            <a:r>
              <a:rPr lang="en-US" sz="1300" dirty="0">
                <a:solidFill>
                  <a:srgbClr val="8899AA"/>
                </a:solidFill>
                <a:latin typeface="Calibri" pitchFamily="34" charset="0"/>
                <a:ea typeface="Calibri" pitchFamily="34" charset="-122"/>
                <a:cs typeface="Calibri" pitchFamily="34" charset="-120"/>
              </a:rPr>
              <a:t>3.3× WER gap</a:t>
            </a:r>
            <a:endParaRPr lang="en-US" sz="1300" dirty="0"/>
          </a:p>
          <a:p>
            <a:pPr marL="0" indent="0">
              <a:buNone/>
            </a:pPr>
            <a:r>
              <a:rPr lang="en-US" sz="1300" dirty="0">
                <a:solidFill>
                  <a:srgbClr val="8899AA"/>
                </a:solidFill>
                <a:latin typeface="Calibri" pitchFamily="34" charset="0"/>
                <a:ea typeface="Calibri" pitchFamily="34" charset="-122"/>
                <a:cs typeface="Calibri" pitchFamily="34" charset="-120"/>
              </a:rPr>
              <a:t>(training data driven)</a:t>
            </a:r>
            <a:endParaRPr lang="en-US" sz="1300" dirty="0"/>
          </a:p>
        </p:txBody>
      </p:sp>
      <p:sp>
        <p:nvSpPr>
          <p:cNvPr id="9" name="Shape 6"/>
          <p:cNvSpPr/>
          <p:nvPr/>
        </p:nvSpPr>
        <p:spPr>
          <a:xfrm>
            <a:off x="2880360" y="3730752"/>
            <a:ext cx="2377440" cy="1252728"/>
          </a:xfrm>
          <a:prstGeom prst="rect">
            <a:avLst/>
          </a:prstGeom>
          <a:solidFill>
            <a:srgbClr val="0A1628"/>
          </a:solidFill>
          <a:ln/>
          <a:effectLst>
            <a:outerShdw blurRad="101600" dist="25400" dir="8100000" algn="bl" rotWithShape="0">
              <a:srgbClr val="000000">
                <a:alpha val="18000"/>
              </a:srgbClr>
            </a:outerShdw>
          </a:effectLst>
        </p:spPr>
      </p:sp>
      <p:sp>
        <p:nvSpPr>
          <p:cNvPr id="10" name="Text 7"/>
          <p:cNvSpPr/>
          <p:nvPr/>
        </p:nvSpPr>
        <p:spPr>
          <a:xfrm>
            <a:off x="3017520" y="3639312"/>
            <a:ext cx="2103120" cy="347472"/>
          </a:xfrm>
          <a:prstGeom prst="rect">
            <a:avLst/>
          </a:prstGeom>
          <a:noFill/>
          <a:ln/>
        </p:spPr>
        <p:txBody>
          <a:bodyPr wrap="square" lIns="0" tIns="0" rIns="0" bIns="0" rtlCol="0" anchor="ctr"/>
          <a:lstStyle/>
          <a:p>
            <a:pPr marL="0" indent="0">
              <a:buNone/>
            </a:pPr>
            <a:endParaRPr lang="en-US" sz="1500" b="1" dirty="0">
              <a:solidFill>
                <a:srgbClr val="FFFFFF"/>
              </a:solidFill>
              <a:latin typeface="Calibri" pitchFamily="34" charset="0"/>
              <a:ea typeface="Calibri" pitchFamily="34" charset="-122"/>
              <a:cs typeface="Calibri" pitchFamily="34" charset="-120"/>
            </a:endParaRPr>
          </a:p>
          <a:p>
            <a:pPr marL="0" indent="0">
              <a:buNone/>
            </a:pPr>
            <a:r>
              <a:rPr lang="en-US" sz="1500" b="1" dirty="0" err="1">
                <a:solidFill>
                  <a:srgbClr val="FFFFFF"/>
                </a:solidFill>
                <a:latin typeface="Calibri" pitchFamily="34" charset="0"/>
                <a:ea typeface="Calibri" pitchFamily="34" charset="-122"/>
                <a:cs typeface="Calibri" pitchFamily="34" charset="-120"/>
              </a:rPr>
              <a:t>Badrex</a:t>
            </a:r>
            <a:endParaRPr lang="en-US" sz="1500" dirty="0"/>
          </a:p>
        </p:txBody>
      </p:sp>
      <p:sp>
        <p:nvSpPr>
          <p:cNvPr id="11" name="Text 8"/>
          <p:cNvSpPr/>
          <p:nvPr/>
        </p:nvSpPr>
        <p:spPr>
          <a:xfrm>
            <a:off x="3017520" y="3986784"/>
            <a:ext cx="2103120" cy="914400"/>
          </a:xfrm>
          <a:prstGeom prst="rect">
            <a:avLst/>
          </a:prstGeom>
          <a:noFill/>
          <a:ln/>
        </p:spPr>
        <p:txBody>
          <a:bodyPr wrap="square" lIns="0" tIns="0" rIns="0" bIns="0" rtlCol="0" anchor="ctr"/>
          <a:lstStyle/>
          <a:p>
            <a:pPr marL="0" indent="0">
              <a:buNone/>
            </a:pPr>
            <a:r>
              <a:rPr lang="en-US" sz="1300" dirty="0">
                <a:solidFill>
                  <a:srgbClr val="8899AA"/>
                </a:solidFill>
                <a:latin typeface="Calibri" pitchFamily="34" charset="0"/>
                <a:ea typeface="Calibri" pitchFamily="34" charset="-122"/>
                <a:cs typeface="Calibri" pitchFamily="34" charset="-120"/>
              </a:rPr>
              <a:t>Male favored</a:t>
            </a:r>
            <a:endParaRPr lang="en-US" sz="1300" dirty="0"/>
          </a:p>
          <a:p>
            <a:pPr marL="0" indent="0">
              <a:buNone/>
            </a:pPr>
            <a:r>
              <a:rPr lang="en-US" sz="1300" dirty="0">
                <a:solidFill>
                  <a:srgbClr val="8899AA"/>
                </a:solidFill>
                <a:latin typeface="Calibri" pitchFamily="34" charset="0"/>
                <a:ea typeface="Calibri" pitchFamily="34" charset="-122"/>
                <a:cs typeface="Calibri" pitchFamily="34" charset="-120"/>
              </a:rPr>
              <a:t>1.5× WER gap</a:t>
            </a:r>
            <a:endParaRPr lang="en-US" sz="1300" dirty="0"/>
          </a:p>
          <a:p>
            <a:pPr marL="0" indent="0">
              <a:buNone/>
            </a:pPr>
            <a:r>
              <a:rPr lang="en-US" sz="1300" dirty="0">
                <a:solidFill>
                  <a:srgbClr val="8899AA"/>
                </a:solidFill>
                <a:latin typeface="Calibri" pitchFamily="34" charset="0"/>
                <a:ea typeface="Calibri" pitchFamily="34" charset="-122"/>
                <a:cs typeface="Calibri" pitchFamily="34" charset="-120"/>
              </a:rPr>
              <a:t>(male-dominated corpus)</a:t>
            </a:r>
            <a:endParaRPr lang="en-US" sz="1300" dirty="0"/>
          </a:p>
        </p:txBody>
      </p:sp>
      <p:sp>
        <p:nvSpPr>
          <p:cNvPr id="13" name="Shape 9"/>
          <p:cNvSpPr/>
          <p:nvPr/>
        </p:nvSpPr>
        <p:spPr>
          <a:xfrm>
            <a:off x="5486400" y="3730752"/>
            <a:ext cx="3383280" cy="1252728"/>
          </a:xfrm>
          <a:prstGeom prst="rect">
            <a:avLst/>
          </a:prstGeom>
          <a:solidFill>
            <a:srgbClr val="0A1628"/>
          </a:solidFill>
          <a:ln/>
          <a:effectLst>
            <a:outerShdw blurRad="101600" dist="25400" dir="8100000" algn="bl" rotWithShape="0">
              <a:srgbClr val="000000">
                <a:alpha val="18000"/>
              </a:srgbClr>
            </a:outerShdw>
          </a:effectLst>
        </p:spPr>
      </p:sp>
      <p:sp>
        <p:nvSpPr>
          <p:cNvPr id="14" name="Text 10"/>
          <p:cNvSpPr/>
          <p:nvPr/>
        </p:nvSpPr>
        <p:spPr>
          <a:xfrm>
            <a:off x="5623560" y="3639312"/>
            <a:ext cx="3108960" cy="347472"/>
          </a:xfrm>
          <a:prstGeom prst="rect">
            <a:avLst/>
          </a:prstGeom>
          <a:noFill/>
          <a:ln/>
        </p:spPr>
        <p:txBody>
          <a:bodyPr wrap="square" lIns="0" tIns="0" rIns="0" bIns="0" rtlCol="0" anchor="ctr"/>
          <a:lstStyle/>
          <a:p>
            <a:pPr marL="0" indent="0">
              <a:buNone/>
            </a:pPr>
            <a:endParaRPr lang="en-US" sz="1400" b="1" dirty="0">
              <a:solidFill>
                <a:srgbClr val="00B4D8"/>
              </a:solidFill>
              <a:latin typeface="Calibri" pitchFamily="34" charset="0"/>
              <a:ea typeface="Calibri" pitchFamily="34" charset="-122"/>
              <a:cs typeface="Calibri" pitchFamily="34" charset="-120"/>
            </a:endParaRPr>
          </a:p>
          <a:p>
            <a:pPr marL="0" indent="0">
              <a:buNone/>
            </a:pPr>
            <a:r>
              <a:rPr lang="en-US" sz="1400" b="1" dirty="0">
                <a:solidFill>
                  <a:srgbClr val="00B4D8"/>
                </a:solidFill>
                <a:latin typeface="Calibri" pitchFamily="34" charset="0"/>
                <a:ea typeface="Calibri" pitchFamily="34" charset="-122"/>
                <a:cs typeface="Calibri" pitchFamily="34" charset="-120"/>
              </a:rPr>
              <a:t>Ge'ez Normalization</a:t>
            </a:r>
            <a:endParaRPr lang="en-US" sz="1400" dirty="0"/>
          </a:p>
        </p:txBody>
      </p:sp>
      <p:sp>
        <p:nvSpPr>
          <p:cNvPr id="15" name="Text 11"/>
          <p:cNvSpPr/>
          <p:nvPr/>
        </p:nvSpPr>
        <p:spPr>
          <a:xfrm>
            <a:off x="5623560" y="4005072"/>
            <a:ext cx="3108960" cy="914400"/>
          </a:xfrm>
          <a:prstGeom prst="rect">
            <a:avLst/>
          </a:prstGeom>
          <a:noFill/>
          <a:ln/>
        </p:spPr>
        <p:txBody>
          <a:bodyPr wrap="square" lIns="0" tIns="0" rIns="0" bIns="0" rtlCol="0" anchor="ctr"/>
          <a:lstStyle/>
          <a:p>
            <a:pPr marL="0" indent="0">
              <a:buNone/>
            </a:pPr>
            <a:r>
              <a:rPr lang="en-US" sz="1300" dirty="0">
                <a:solidFill>
                  <a:srgbClr val="E8F1FF"/>
                </a:solidFill>
                <a:latin typeface="Calibri" pitchFamily="34" charset="0"/>
                <a:ea typeface="Calibri" pitchFamily="34" charset="-122"/>
                <a:cs typeface="Calibri" pitchFamily="34" charset="-120"/>
              </a:rPr>
              <a:t>21 character mappings eliminate redundant Ge'ez characters. Consistent 16–19% WER reduction across ALL 4 models</a:t>
            </a:r>
            <a:endParaRPr lang="en-US" sz="1300" dirty="0"/>
          </a:p>
        </p:txBody>
      </p:sp>
      <p:graphicFrame>
        <p:nvGraphicFramePr>
          <p:cNvPr id="17" name="Chart 16">
            <a:extLst>
              <a:ext uri="{FF2B5EF4-FFF2-40B4-BE49-F238E27FC236}">
                <a16:creationId xmlns:a16="http://schemas.microsoft.com/office/drawing/2014/main" id="{C3B86ED9-8175-C84A-548F-28921C923134}"/>
              </a:ext>
            </a:extLst>
          </p:cNvPr>
          <p:cNvGraphicFramePr/>
          <p:nvPr>
            <p:extLst>
              <p:ext uri="{D42A27DB-BD31-4B8C-83A1-F6EECF244321}">
                <p14:modId xmlns:p14="http://schemas.microsoft.com/office/powerpoint/2010/main" val="766498890"/>
              </p:ext>
            </p:extLst>
          </p:nvPr>
        </p:nvGraphicFramePr>
        <p:xfrm>
          <a:off x="4991100" y="870966"/>
          <a:ext cx="4876800" cy="2644902"/>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3A6B"/>
          </a:solidFill>
          <a:ln/>
        </p:spPr>
      </p:sp>
      <p:sp>
        <p:nvSpPr>
          <p:cNvPr id="3" name="Shape 1"/>
          <p:cNvSpPr/>
          <p:nvPr/>
        </p:nvSpPr>
        <p:spPr>
          <a:xfrm>
            <a:off x="0" y="0"/>
            <a:ext cx="64008" cy="1005840"/>
          </a:xfrm>
          <a:prstGeom prst="rect">
            <a:avLst/>
          </a:prstGeom>
          <a:solidFill>
            <a:srgbClr val="F59E0B"/>
          </a:solidFill>
          <a:ln/>
        </p:spPr>
      </p:sp>
      <p:sp>
        <p:nvSpPr>
          <p:cNvPr id="4" name="Text 2"/>
          <p:cNvSpPr/>
          <p:nvPr/>
        </p:nvSpPr>
        <p:spPr>
          <a:xfrm>
            <a:off x="228600" y="73152"/>
            <a:ext cx="8686800" cy="502920"/>
          </a:xfrm>
          <a:prstGeom prst="rect">
            <a:avLst/>
          </a:prstGeom>
          <a:noFill/>
          <a:ln/>
        </p:spPr>
        <p:txBody>
          <a:bodyPr wrap="square" lIns="0" tIns="0" rIns="0" bIns="0" rtlCol="0" anchor="ctr"/>
          <a:lstStyle/>
          <a:p>
            <a:pPr marL="0" indent="0">
              <a:buNone/>
            </a:pPr>
            <a:endParaRPr lang="en-US" sz="2600" b="1" dirty="0">
              <a:solidFill>
                <a:srgbClr val="FFFFFF"/>
              </a:solidFill>
              <a:latin typeface="Calibri" pitchFamily="34" charset="0"/>
              <a:ea typeface="Calibri" pitchFamily="34" charset="-122"/>
              <a:cs typeface="Calibri" pitchFamily="34" charset="-120"/>
            </a:endParaRPr>
          </a:p>
          <a:p>
            <a:pPr marL="0" indent="0">
              <a:buNone/>
            </a:pPr>
            <a:r>
              <a:rPr lang="en-US" sz="2600" b="1" dirty="0">
                <a:solidFill>
                  <a:srgbClr val="FFFFFF"/>
                </a:solidFill>
                <a:latin typeface="Calibri" pitchFamily="34" charset="0"/>
                <a:ea typeface="Calibri" pitchFamily="34" charset="-122"/>
                <a:cs typeface="Calibri" pitchFamily="34" charset="-120"/>
              </a:rPr>
              <a:t>           The Equity Crisis in Tigrinya ASR</a:t>
            </a:r>
            <a:endParaRPr lang="en-US" sz="2600" dirty="0"/>
          </a:p>
        </p:txBody>
      </p:sp>
      <p:sp>
        <p:nvSpPr>
          <p:cNvPr id="5" name="Text 3"/>
          <p:cNvSpPr/>
          <p:nvPr/>
        </p:nvSpPr>
        <p:spPr>
          <a:xfrm>
            <a:off x="228600" y="594360"/>
            <a:ext cx="8686800" cy="292608"/>
          </a:xfrm>
          <a:prstGeom prst="rect">
            <a:avLst/>
          </a:prstGeom>
          <a:noFill/>
          <a:ln/>
        </p:spPr>
        <p:txBody>
          <a:bodyPr wrap="square" lIns="0" tIns="0" rIns="0" bIns="0" rtlCol="0" anchor="ctr"/>
          <a:lstStyle/>
          <a:p>
            <a:pPr marL="0" indent="0">
              <a:buNone/>
            </a:pPr>
            <a:endParaRPr lang="en-US" sz="1100" dirty="0"/>
          </a:p>
        </p:txBody>
      </p:sp>
      <p:sp>
        <p:nvSpPr>
          <p:cNvPr id="6" name="Shape 4"/>
          <p:cNvSpPr/>
          <p:nvPr/>
        </p:nvSpPr>
        <p:spPr>
          <a:xfrm>
            <a:off x="2011680" y="1188720"/>
            <a:ext cx="5120640" cy="1645920"/>
          </a:xfrm>
          <a:prstGeom prst="rect">
            <a:avLst/>
          </a:prstGeom>
          <a:solidFill>
            <a:srgbClr val="082B4A"/>
          </a:solidFill>
          <a:ln/>
        </p:spPr>
      </p:sp>
      <p:sp>
        <p:nvSpPr>
          <p:cNvPr id="7" name="Shape 5"/>
          <p:cNvSpPr/>
          <p:nvPr/>
        </p:nvSpPr>
        <p:spPr>
          <a:xfrm>
            <a:off x="2011680" y="1188720"/>
            <a:ext cx="91440" cy="1645920"/>
          </a:xfrm>
          <a:prstGeom prst="rect">
            <a:avLst/>
          </a:prstGeom>
          <a:solidFill>
            <a:srgbClr val="F59E0B"/>
          </a:solidFill>
          <a:ln/>
        </p:spPr>
      </p:sp>
      <p:sp>
        <p:nvSpPr>
          <p:cNvPr id="8" name="Text 6"/>
          <p:cNvSpPr/>
          <p:nvPr/>
        </p:nvSpPr>
        <p:spPr>
          <a:xfrm>
            <a:off x="2103120" y="1234440"/>
            <a:ext cx="4937760" cy="914400"/>
          </a:xfrm>
          <a:prstGeom prst="rect">
            <a:avLst/>
          </a:prstGeom>
          <a:noFill/>
          <a:ln/>
        </p:spPr>
        <p:txBody>
          <a:bodyPr wrap="square" lIns="0" tIns="0" rIns="0" bIns="0" rtlCol="0" anchor="ctr"/>
          <a:lstStyle/>
          <a:p>
            <a:pPr marL="0" indent="0" algn="ctr">
              <a:buNone/>
            </a:pPr>
            <a:r>
              <a:rPr lang="en-US" sz="4800" b="1" dirty="0">
                <a:solidFill>
                  <a:srgbClr val="F59E0B"/>
                </a:solidFill>
                <a:latin typeface="Calibri" pitchFamily="34" charset="0"/>
                <a:ea typeface="Calibri" pitchFamily="34" charset="-122"/>
                <a:cs typeface="Calibri" pitchFamily="34" charset="-120"/>
              </a:rPr>
              <a:t>WER: 0.87 – 1.00</a:t>
            </a:r>
            <a:endParaRPr lang="en-US" sz="4800" dirty="0"/>
          </a:p>
        </p:txBody>
      </p:sp>
      <p:sp>
        <p:nvSpPr>
          <p:cNvPr id="9" name="Text 7"/>
          <p:cNvSpPr/>
          <p:nvPr/>
        </p:nvSpPr>
        <p:spPr>
          <a:xfrm>
            <a:off x="2103120" y="2121408"/>
            <a:ext cx="4937760" cy="384048"/>
          </a:xfrm>
          <a:prstGeom prst="rect">
            <a:avLst/>
          </a:prstGeom>
          <a:noFill/>
          <a:ln/>
        </p:spPr>
        <p:txBody>
          <a:bodyPr wrap="square" lIns="0" tIns="0" rIns="0" bIns="0" rtlCol="0" anchor="ctr"/>
          <a:lstStyle/>
          <a:p>
            <a:pPr marL="0" indent="0" algn="ctr">
              <a:buNone/>
            </a:pPr>
            <a:r>
              <a:rPr lang="en-US" sz="1300" dirty="0">
                <a:solidFill>
                  <a:srgbClr val="F0F4F8"/>
                </a:solidFill>
                <a:latin typeface="Calibri" pitchFamily="34" charset="0"/>
                <a:ea typeface="Calibri" pitchFamily="34" charset="-122"/>
                <a:cs typeface="Calibri" pitchFamily="34" charset="-120"/>
              </a:rPr>
              <a:t>on Raya dialect — across every model tested.</a:t>
            </a:r>
            <a:endParaRPr lang="en-US" sz="1300" dirty="0"/>
          </a:p>
        </p:txBody>
      </p:sp>
      <p:sp>
        <p:nvSpPr>
          <p:cNvPr id="10" name="Shape 8"/>
          <p:cNvSpPr/>
          <p:nvPr/>
        </p:nvSpPr>
        <p:spPr>
          <a:xfrm>
            <a:off x="457200" y="2971800"/>
            <a:ext cx="8229600" cy="685800"/>
          </a:xfrm>
          <a:prstGeom prst="rect">
            <a:avLst/>
          </a:prstGeom>
          <a:solidFill>
            <a:srgbClr val="112240"/>
          </a:solidFill>
          <a:ln/>
        </p:spPr>
      </p:sp>
      <p:sp>
        <p:nvSpPr>
          <p:cNvPr id="11" name="Shape 9"/>
          <p:cNvSpPr/>
          <p:nvPr/>
        </p:nvSpPr>
        <p:spPr>
          <a:xfrm>
            <a:off x="457200" y="2971800"/>
            <a:ext cx="64008" cy="685800"/>
          </a:xfrm>
          <a:prstGeom prst="rect">
            <a:avLst/>
          </a:prstGeom>
          <a:solidFill>
            <a:srgbClr val="F59E0B"/>
          </a:solidFill>
          <a:ln/>
        </p:spPr>
      </p:sp>
      <p:sp>
        <p:nvSpPr>
          <p:cNvPr id="12" name="Text 10"/>
          <p:cNvSpPr/>
          <p:nvPr/>
        </p:nvSpPr>
        <p:spPr>
          <a:xfrm>
            <a:off x="594360" y="2971800"/>
            <a:ext cx="8001000" cy="685800"/>
          </a:xfrm>
          <a:prstGeom prst="rect">
            <a:avLst/>
          </a:prstGeom>
          <a:noFill/>
          <a:ln/>
        </p:spPr>
        <p:txBody>
          <a:bodyPr wrap="square" lIns="0" tIns="10160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Raya dialect is completely excluded from AI-powered speech services.</a:t>
            </a:r>
            <a:endParaRPr lang="en-US" sz="1600" dirty="0"/>
          </a:p>
        </p:txBody>
      </p:sp>
      <p:sp>
        <p:nvSpPr>
          <p:cNvPr id="13" name="Shape 11"/>
          <p:cNvSpPr/>
          <p:nvPr/>
        </p:nvSpPr>
        <p:spPr>
          <a:xfrm>
            <a:off x="457200" y="3749040"/>
            <a:ext cx="8229600" cy="640080"/>
          </a:xfrm>
          <a:prstGeom prst="rect">
            <a:avLst/>
          </a:prstGeom>
          <a:solidFill>
            <a:srgbClr val="0F2044"/>
          </a:solidFill>
          <a:ln/>
        </p:spPr>
      </p:sp>
      <p:sp>
        <p:nvSpPr>
          <p:cNvPr id="14" name="Shape 12"/>
          <p:cNvSpPr/>
          <p:nvPr/>
        </p:nvSpPr>
        <p:spPr>
          <a:xfrm>
            <a:off x="457200" y="3749040"/>
            <a:ext cx="64008" cy="640080"/>
          </a:xfrm>
          <a:prstGeom prst="rect">
            <a:avLst/>
          </a:prstGeom>
          <a:solidFill>
            <a:srgbClr val="0D9488"/>
          </a:solidFill>
          <a:ln/>
        </p:spPr>
      </p:sp>
      <p:sp>
        <p:nvSpPr>
          <p:cNvPr id="15" name="Text 13"/>
          <p:cNvSpPr/>
          <p:nvPr/>
        </p:nvSpPr>
        <p:spPr>
          <a:xfrm>
            <a:off x="594360" y="3749040"/>
            <a:ext cx="8001000" cy="640080"/>
          </a:xfrm>
          <a:prstGeom prst="rect">
            <a:avLst/>
          </a:prstGeom>
          <a:noFill/>
          <a:ln/>
        </p:spPr>
        <p:txBody>
          <a:bodyPr wrap="square" lIns="0" tIns="101600" rIns="0" bIns="0" rtlCol="0" anchor="ctr"/>
          <a:lstStyle/>
          <a:p>
            <a:pPr marL="0" indent="0">
              <a:buNone/>
            </a:pPr>
            <a:r>
              <a:rPr lang="en-US" sz="1400" i="1" dirty="0">
                <a:solidFill>
                  <a:srgbClr val="14B8A6"/>
                </a:solidFill>
                <a:latin typeface="Calibri" pitchFamily="34" charset="0"/>
                <a:ea typeface="Calibri" pitchFamily="34" charset="-122"/>
                <a:cs typeface="Calibri" pitchFamily="34" charset="-120"/>
              </a:rPr>
              <a:t>This is not a performance gap.  This is an equity gap.</a:t>
            </a:r>
            <a:endParaRPr lang="en-US" sz="1400" dirty="0"/>
          </a:p>
        </p:txBody>
      </p:sp>
      <p:sp>
        <p:nvSpPr>
          <p:cNvPr id="17" name="Text 15"/>
          <p:cNvSpPr/>
          <p:nvPr/>
        </p:nvSpPr>
        <p:spPr>
          <a:xfrm>
            <a:off x="182880" y="4965192"/>
            <a:ext cx="8778240" cy="164592"/>
          </a:xfrm>
          <a:prstGeom prst="rect">
            <a:avLst/>
          </a:prstGeom>
          <a:noFill/>
          <a:ln/>
        </p:spPr>
        <p:txBody>
          <a:bodyPr wrap="square" lIns="0" tIns="0" rIns="0" bIns="0" rtlCol="0" anchor="ctr"/>
          <a:lstStyle/>
          <a:p>
            <a:pPr marL="0" indent="0" algn="ctr">
              <a:buNone/>
            </a:pPr>
            <a:endParaRPr lang="en-US" sz="800" dirty="0"/>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C107"/>
          </a:solidFill>
          <a:ln w="12700">
            <a:solidFill>
              <a:srgbClr val="FFC107"/>
            </a:solidFill>
            <a:prstDash val="solid"/>
          </a:ln>
        </p:spPr>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So, What Does This Mean?</a:t>
            </a:r>
            <a:endParaRPr lang="en-US" sz="2800" dirty="0"/>
          </a:p>
        </p:txBody>
      </p:sp>
      <p:sp>
        <p:nvSpPr>
          <p:cNvPr id="4" name="Shape 2"/>
          <p:cNvSpPr/>
          <p:nvPr/>
        </p:nvSpPr>
        <p:spPr>
          <a:xfrm>
            <a:off x="457200" y="886968"/>
            <a:ext cx="8229600" cy="22860"/>
          </a:xfrm>
          <a:prstGeom prst="rect">
            <a:avLst/>
          </a:prstGeom>
          <a:solidFill>
            <a:srgbClr val="00B4D8"/>
          </a:solidFill>
          <a:ln w="12700">
            <a:solidFill>
              <a:srgbClr val="00B4D8"/>
            </a:solidFill>
            <a:prstDash val="solid"/>
          </a:ln>
        </p:spPr>
      </p:sp>
      <p:sp>
        <p:nvSpPr>
          <p:cNvPr id="5" name="Shape 3"/>
          <p:cNvSpPr/>
          <p:nvPr/>
        </p:nvSpPr>
        <p:spPr>
          <a:xfrm>
            <a:off x="320040" y="1005840"/>
            <a:ext cx="4023360" cy="1691640"/>
          </a:xfrm>
          <a:prstGeom prst="rect">
            <a:avLst/>
          </a:prstGeom>
          <a:solidFill>
            <a:srgbClr val="0F2040"/>
          </a:solidFill>
          <a:ln/>
          <a:effectLst>
            <a:outerShdw blurRad="101600" dist="25400" dir="8100000" algn="bl" rotWithShape="0">
              <a:srgbClr val="000000">
                <a:alpha val="18000"/>
              </a:srgbClr>
            </a:outerShdw>
          </a:effectLst>
        </p:spPr>
      </p:sp>
      <p:sp>
        <p:nvSpPr>
          <p:cNvPr id="6" name="Shape 4"/>
          <p:cNvSpPr/>
          <p:nvPr/>
        </p:nvSpPr>
        <p:spPr>
          <a:xfrm>
            <a:off x="320040" y="1005840"/>
            <a:ext cx="4023360" cy="91440"/>
          </a:xfrm>
          <a:prstGeom prst="rect">
            <a:avLst/>
          </a:prstGeom>
          <a:solidFill>
            <a:srgbClr val="00C853"/>
          </a:solidFill>
          <a:ln w="12700">
            <a:solidFill>
              <a:srgbClr val="00C853"/>
            </a:solidFill>
            <a:prstDash val="solid"/>
          </a:ln>
        </p:spPr>
      </p:sp>
      <p:sp>
        <p:nvSpPr>
          <p:cNvPr id="7" name="Shape 5"/>
          <p:cNvSpPr/>
          <p:nvPr/>
        </p:nvSpPr>
        <p:spPr>
          <a:xfrm>
            <a:off x="457200" y="1261872"/>
            <a:ext cx="502920" cy="502920"/>
          </a:xfrm>
          <a:prstGeom prst="line">
            <a:avLst/>
          </a:prstGeom>
          <a:solidFill>
            <a:srgbClr val="00C853"/>
          </a:solidFill>
          <a:ln w="12700">
            <a:solidFill>
              <a:srgbClr val="00C853"/>
            </a:solidFill>
            <a:prstDash val="solid"/>
          </a:ln>
        </p:spPr>
      </p:sp>
      <p:pic>
        <p:nvPicPr>
          <p:cNvPr id="8" name="Image 0" descr="preencoded.png"/>
          <p:cNvPicPr>
            <a:picLocks noChangeAspect="1"/>
          </p:cNvPicPr>
          <p:nvPr/>
        </p:nvPicPr>
        <p:blipFill>
          <a:blip r:embed="rId3"/>
          <a:stretch>
            <a:fillRect/>
          </a:stretch>
        </p:blipFill>
        <p:spPr>
          <a:xfrm>
            <a:off x="530352" y="1335024"/>
            <a:ext cx="347472" cy="347472"/>
          </a:xfrm>
          <a:prstGeom prst="rect">
            <a:avLst/>
          </a:prstGeom>
        </p:spPr>
      </p:pic>
      <p:sp>
        <p:nvSpPr>
          <p:cNvPr id="9" name="Text 6"/>
          <p:cNvSpPr/>
          <p:nvPr/>
        </p:nvSpPr>
        <p:spPr>
          <a:xfrm>
            <a:off x="1097280" y="1115568"/>
            <a:ext cx="310896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Use Badrex for clean broadcast speech</a:t>
            </a:r>
            <a:endParaRPr lang="en-US" sz="1400" dirty="0"/>
          </a:p>
        </p:txBody>
      </p:sp>
      <p:sp>
        <p:nvSpPr>
          <p:cNvPr id="10" name="Text 7"/>
          <p:cNvSpPr/>
          <p:nvPr/>
        </p:nvSpPr>
        <p:spPr>
          <a:xfrm>
            <a:off x="502920" y="1645920"/>
            <a:ext cx="3657600" cy="91440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Best for studio recordings, news transcription, highland Central dialect. WER 0.10–0.18.</a:t>
            </a:r>
            <a:endParaRPr lang="en-US" sz="1200" dirty="0"/>
          </a:p>
        </p:txBody>
      </p:sp>
      <p:sp>
        <p:nvSpPr>
          <p:cNvPr id="11" name="Shape 8"/>
          <p:cNvSpPr/>
          <p:nvPr/>
        </p:nvSpPr>
        <p:spPr>
          <a:xfrm>
            <a:off x="4754880" y="1005840"/>
            <a:ext cx="4023360" cy="1691640"/>
          </a:xfrm>
          <a:prstGeom prst="rect">
            <a:avLst/>
          </a:prstGeom>
          <a:solidFill>
            <a:srgbClr val="0F2040"/>
          </a:solidFill>
          <a:ln/>
          <a:effectLst>
            <a:outerShdw blurRad="101600" dist="25400" dir="8100000" algn="bl" rotWithShape="0">
              <a:srgbClr val="000000">
                <a:alpha val="18000"/>
              </a:srgbClr>
            </a:outerShdw>
          </a:effectLst>
        </p:spPr>
      </p:sp>
      <p:sp>
        <p:nvSpPr>
          <p:cNvPr id="12" name="Shape 9"/>
          <p:cNvSpPr/>
          <p:nvPr/>
        </p:nvSpPr>
        <p:spPr>
          <a:xfrm>
            <a:off x="4754880" y="1005840"/>
            <a:ext cx="4023360" cy="91440"/>
          </a:xfrm>
          <a:prstGeom prst="rect">
            <a:avLst/>
          </a:prstGeom>
          <a:solidFill>
            <a:srgbClr val="00B4D8"/>
          </a:solidFill>
          <a:ln w="12700">
            <a:solidFill>
              <a:srgbClr val="00B4D8"/>
            </a:solidFill>
            <a:prstDash val="solid"/>
          </a:ln>
        </p:spPr>
      </p:sp>
      <p:sp>
        <p:nvSpPr>
          <p:cNvPr id="13" name="Shape 10"/>
          <p:cNvSpPr/>
          <p:nvPr/>
        </p:nvSpPr>
        <p:spPr>
          <a:xfrm>
            <a:off x="4892040" y="1261872"/>
            <a:ext cx="502920" cy="502920"/>
          </a:xfrm>
          <a:prstGeom prst="line">
            <a:avLst/>
          </a:prstGeom>
          <a:solidFill>
            <a:srgbClr val="00B4D8"/>
          </a:solidFill>
          <a:ln w="12700">
            <a:solidFill>
              <a:srgbClr val="00B4D8"/>
            </a:solidFill>
            <a:prstDash val="solid"/>
          </a:ln>
        </p:spPr>
      </p:sp>
      <p:pic>
        <p:nvPicPr>
          <p:cNvPr id="14" name="Image 1" descr="preencoded.png"/>
          <p:cNvPicPr>
            <a:picLocks noChangeAspect="1"/>
          </p:cNvPicPr>
          <p:nvPr/>
        </p:nvPicPr>
        <p:blipFill>
          <a:blip r:embed="rId4"/>
          <a:stretch>
            <a:fillRect/>
          </a:stretch>
        </p:blipFill>
        <p:spPr>
          <a:xfrm>
            <a:off x="4965192" y="1335024"/>
            <a:ext cx="347472" cy="347472"/>
          </a:xfrm>
          <a:prstGeom prst="rect">
            <a:avLst/>
          </a:prstGeom>
        </p:spPr>
      </p:pic>
      <p:sp>
        <p:nvSpPr>
          <p:cNvPr id="15" name="Text 11"/>
          <p:cNvSpPr/>
          <p:nvPr/>
        </p:nvSpPr>
        <p:spPr>
          <a:xfrm>
            <a:off x="5532120" y="1115568"/>
            <a:ext cx="310896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Use Omnilingual for variable environments</a:t>
            </a:r>
            <a:endParaRPr lang="en-US" sz="1400" dirty="0"/>
          </a:p>
        </p:txBody>
      </p:sp>
      <p:sp>
        <p:nvSpPr>
          <p:cNvPr id="16" name="Text 12"/>
          <p:cNvSpPr/>
          <p:nvPr/>
        </p:nvSpPr>
        <p:spPr>
          <a:xfrm>
            <a:off x="4937760" y="1645920"/>
            <a:ext cx="3657600" cy="91440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More robust to acoustic degradation. Better choice for courts and field recordings.</a:t>
            </a:r>
            <a:endParaRPr lang="en-US" sz="1200" dirty="0"/>
          </a:p>
        </p:txBody>
      </p:sp>
      <p:sp>
        <p:nvSpPr>
          <p:cNvPr id="17" name="Shape 13"/>
          <p:cNvSpPr/>
          <p:nvPr/>
        </p:nvSpPr>
        <p:spPr>
          <a:xfrm>
            <a:off x="320040" y="2926080"/>
            <a:ext cx="4023360" cy="1691640"/>
          </a:xfrm>
          <a:prstGeom prst="rect">
            <a:avLst/>
          </a:prstGeom>
          <a:solidFill>
            <a:srgbClr val="0F2040"/>
          </a:solidFill>
          <a:ln/>
          <a:effectLst>
            <a:outerShdw blurRad="101600" dist="25400" dir="8100000" algn="bl" rotWithShape="0">
              <a:srgbClr val="000000">
                <a:alpha val="18000"/>
              </a:srgbClr>
            </a:outerShdw>
          </a:effectLst>
        </p:spPr>
      </p:sp>
      <p:sp>
        <p:nvSpPr>
          <p:cNvPr id="18" name="Shape 14"/>
          <p:cNvSpPr/>
          <p:nvPr/>
        </p:nvSpPr>
        <p:spPr>
          <a:xfrm>
            <a:off x="320040" y="2926080"/>
            <a:ext cx="4023360" cy="91440"/>
          </a:xfrm>
          <a:prstGeom prst="rect">
            <a:avLst/>
          </a:prstGeom>
          <a:solidFill>
            <a:srgbClr val="FFC107"/>
          </a:solidFill>
          <a:ln w="12700">
            <a:solidFill>
              <a:srgbClr val="FFC107"/>
            </a:solidFill>
            <a:prstDash val="solid"/>
          </a:ln>
        </p:spPr>
      </p:sp>
      <p:sp>
        <p:nvSpPr>
          <p:cNvPr id="19" name="Shape 15"/>
          <p:cNvSpPr/>
          <p:nvPr/>
        </p:nvSpPr>
        <p:spPr>
          <a:xfrm>
            <a:off x="457200" y="3182112"/>
            <a:ext cx="502920" cy="502920"/>
          </a:xfrm>
          <a:prstGeom prst="line">
            <a:avLst/>
          </a:prstGeom>
          <a:solidFill>
            <a:srgbClr val="FFC107"/>
          </a:solidFill>
          <a:ln w="12700">
            <a:solidFill>
              <a:srgbClr val="FFC107"/>
            </a:solidFill>
            <a:prstDash val="solid"/>
          </a:ln>
        </p:spPr>
      </p:sp>
      <p:pic>
        <p:nvPicPr>
          <p:cNvPr id="20" name="Image 2" descr="preencoded.png"/>
          <p:cNvPicPr>
            <a:picLocks noChangeAspect="1"/>
          </p:cNvPicPr>
          <p:nvPr/>
        </p:nvPicPr>
        <p:blipFill>
          <a:blip r:embed="rId5"/>
          <a:stretch>
            <a:fillRect/>
          </a:stretch>
        </p:blipFill>
        <p:spPr>
          <a:xfrm>
            <a:off x="530352" y="3255264"/>
            <a:ext cx="347472" cy="347472"/>
          </a:xfrm>
          <a:prstGeom prst="rect">
            <a:avLst/>
          </a:prstGeom>
        </p:spPr>
      </p:pic>
      <p:sp>
        <p:nvSpPr>
          <p:cNvPr id="21" name="Text 16"/>
          <p:cNvSpPr/>
          <p:nvPr/>
        </p:nvSpPr>
        <p:spPr>
          <a:xfrm>
            <a:off x="1097280" y="3035808"/>
            <a:ext cx="310896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Use Samuel to minimize group disparities</a:t>
            </a:r>
            <a:endParaRPr lang="en-US" sz="1400" dirty="0"/>
          </a:p>
        </p:txBody>
      </p:sp>
      <p:sp>
        <p:nvSpPr>
          <p:cNvPr id="22" name="Text 17"/>
          <p:cNvSpPr/>
          <p:nvPr/>
        </p:nvSpPr>
        <p:spPr>
          <a:xfrm>
            <a:off x="502920" y="3566160"/>
            <a:ext cx="3657600" cy="91440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Most balanced gender performance. Samuel trades peak accuracy for fairness.</a:t>
            </a:r>
            <a:endParaRPr lang="en-US" sz="1200" dirty="0"/>
          </a:p>
        </p:txBody>
      </p:sp>
      <p:sp>
        <p:nvSpPr>
          <p:cNvPr id="23" name="Shape 18"/>
          <p:cNvSpPr/>
          <p:nvPr/>
        </p:nvSpPr>
        <p:spPr>
          <a:xfrm>
            <a:off x="4754880" y="2926080"/>
            <a:ext cx="4023360" cy="1691640"/>
          </a:xfrm>
          <a:prstGeom prst="rect">
            <a:avLst/>
          </a:prstGeom>
          <a:solidFill>
            <a:srgbClr val="0F2040"/>
          </a:solidFill>
          <a:ln/>
          <a:effectLst>
            <a:outerShdw blurRad="101600" dist="25400" dir="8100000" algn="bl" rotWithShape="0">
              <a:srgbClr val="000000">
                <a:alpha val="18000"/>
              </a:srgbClr>
            </a:outerShdw>
          </a:effectLst>
        </p:spPr>
      </p:sp>
      <p:sp>
        <p:nvSpPr>
          <p:cNvPr id="24" name="Shape 19"/>
          <p:cNvSpPr/>
          <p:nvPr/>
        </p:nvSpPr>
        <p:spPr>
          <a:xfrm>
            <a:off x="4754880" y="2926080"/>
            <a:ext cx="4023360" cy="91440"/>
          </a:xfrm>
          <a:prstGeom prst="rect">
            <a:avLst/>
          </a:prstGeom>
          <a:solidFill>
            <a:srgbClr val="E53935"/>
          </a:solidFill>
          <a:ln w="12700">
            <a:solidFill>
              <a:srgbClr val="E53935"/>
            </a:solidFill>
            <a:prstDash val="solid"/>
          </a:ln>
        </p:spPr>
      </p:sp>
      <p:sp>
        <p:nvSpPr>
          <p:cNvPr id="25" name="Shape 20"/>
          <p:cNvSpPr/>
          <p:nvPr/>
        </p:nvSpPr>
        <p:spPr>
          <a:xfrm>
            <a:off x="4892040" y="3182112"/>
            <a:ext cx="502920" cy="502920"/>
          </a:xfrm>
          <a:prstGeom prst="line">
            <a:avLst/>
          </a:prstGeom>
          <a:solidFill>
            <a:srgbClr val="E53935"/>
          </a:solidFill>
          <a:ln w="12700">
            <a:solidFill>
              <a:srgbClr val="E53935"/>
            </a:solidFill>
            <a:prstDash val="solid"/>
          </a:ln>
        </p:spPr>
      </p:sp>
      <p:pic>
        <p:nvPicPr>
          <p:cNvPr id="26" name="Image 3" descr="preencoded.png"/>
          <p:cNvPicPr>
            <a:picLocks noChangeAspect="1"/>
          </p:cNvPicPr>
          <p:nvPr/>
        </p:nvPicPr>
        <p:blipFill>
          <a:blip r:embed="rId6"/>
          <a:stretch>
            <a:fillRect/>
          </a:stretch>
        </p:blipFill>
        <p:spPr>
          <a:xfrm>
            <a:off x="4965192" y="3255264"/>
            <a:ext cx="347472" cy="347472"/>
          </a:xfrm>
          <a:prstGeom prst="rect">
            <a:avLst/>
          </a:prstGeom>
        </p:spPr>
      </p:pic>
      <p:sp>
        <p:nvSpPr>
          <p:cNvPr id="27" name="Text 21"/>
          <p:cNvSpPr/>
          <p:nvPr/>
        </p:nvSpPr>
        <p:spPr>
          <a:xfrm>
            <a:off x="5532120" y="3035808"/>
            <a:ext cx="310896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NO model is ready for Raya speakers</a:t>
            </a:r>
            <a:endParaRPr lang="en-US" sz="1400" dirty="0"/>
          </a:p>
        </p:txBody>
      </p:sp>
      <p:sp>
        <p:nvSpPr>
          <p:cNvPr id="28" name="Text 22"/>
          <p:cNvSpPr/>
          <p:nvPr/>
        </p:nvSpPr>
        <p:spPr>
          <a:xfrm>
            <a:off x="4937760" y="3566160"/>
            <a:ext cx="3657600" cy="914400"/>
          </a:xfrm>
          <a:prstGeom prst="rect">
            <a:avLst/>
          </a:prstGeom>
          <a:noFill/>
          <a:ln/>
        </p:spPr>
        <p:txBody>
          <a:bodyPr wrap="square" lIns="0" tIns="0" rIns="0" bIns="0" rtlCol="0" anchor="ctr"/>
          <a:lstStyle/>
          <a:p>
            <a:pPr marL="0" indent="0">
              <a:buNone/>
            </a:pPr>
            <a:r>
              <a:rPr lang="en-US" sz="1200" dirty="0">
                <a:solidFill>
                  <a:srgbClr val="8899AA"/>
                </a:solidFill>
                <a:latin typeface="Calibri" pitchFamily="34" charset="0"/>
                <a:ea typeface="Calibri" pitchFamily="34" charset="-122"/>
                <a:cs typeface="Calibri" pitchFamily="34" charset="-120"/>
              </a:rPr>
              <a:t>Near-catastrophic failure for all 4 models. Raya dialect data collection is critical.</a:t>
            </a:r>
            <a:endParaRPr lang="en-US" sz="1200" dirty="0"/>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853"/>
          </a:solidFill>
          <a:ln w="12700">
            <a:solidFill>
              <a:srgbClr val="00C853"/>
            </a:solidFill>
            <a:prstDash val="solid"/>
          </a:ln>
        </p:spPr>
      </p:sp>
      <p:sp>
        <p:nvSpPr>
          <p:cNvPr id="3" name="Text 1"/>
          <p:cNvSpPr/>
          <p:nvPr/>
        </p:nvSpPr>
        <p:spPr>
          <a:xfrm>
            <a:off x="457200" y="164592"/>
            <a:ext cx="8229600" cy="530352"/>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What Next?</a:t>
            </a:r>
            <a:endParaRPr lang="en-US" sz="2800" dirty="0"/>
          </a:p>
        </p:txBody>
      </p:sp>
      <p:sp>
        <p:nvSpPr>
          <p:cNvPr id="4" name="Shape 2"/>
          <p:cNvSpPr/>
          <p:nvPr/>
        </p:nvSpPr>
        <p:spPr>
          <a:xfrm>
            <a:off x="457200" y="886968"/>
            <a:ext cx="8229600" cy="22860"/>
          </a:xfrm>
          <a:prstGeom prst="rect">
            <a:avLst/>
          </a:prstGeom>
          <a:solidFill>
            <a:srgbClr val="00B4D8"/>
          </a:solidFill>
          <a:ln w="12700">
            <a:solidFill>
              <a:srgbClr val="00B4D8"/>
            </a:solidFill>
            <a:prstDash val="solid"/>
          </a:ln>
        </p:spPr>
      </p:sp>
      <p:sp>
        <p:nvSpPr>
          <p:cNvPr id="5" name="Shape 3"/>
          <p:cNvSpPr/>
          <p:nvPr/>
        </p:nvSpPr>
        <p:spPr>
          <a:xfrm>
            <a:off x="320040" y="1005840"/>
            <a:ext cx="8503920" cy="1188720"/>
          </a:xfrm>
          <a:prstGeom prst="rect">
            <a:avLst/>
          </a:prstGeom>
          <a:solidFill>
            <a:srgbClr val="0F2040"/>
          </a:solidFill>
          <a:ln/>
          <a:effectLst>
            <a:outerShdw blurRad="101600" dist="25400" dir="8100000" algn="bl" rotWithShape="0">
              <a:srgbClr val="000000">
                <a:alpha val="18000"/>
              </a:srgbClr>
            </a:outerShdw>
          </a:effectLst>
        </p:spPr>
      </p:sp>
      <p:sp>
        <p:nvSpPr>
          <p:cNvPr id="6" name="Shape 4"/>
          <p:cNvSpPr/>
          <p:nvPr/>
        </p:nvSpPr>
        <p:spPr>
          <a:xfrm>
            <a:off x="320040" y="1005840"/>
            <a:ext cx="109728" cy="1188720"/>
          </a:xfrm>
          <a:prstGeom prst="rect">
            <a:avLst/>
          </a:prstGeom>
          <a:solidFill>
            <a:srgbClr val="00B4D8"/>
          </a:solidFill>
          <a:ln w="12700">
            <a:solidFill>
              <a:srgbClr val="00B4D8"/>
            </a:solidFill>
            <a:prstDash val="solid"/>
          </a:ln>
        </p:spPr>
      </p:sp>
      <p:sp>
        <p:nvSpPr>
          <p:cNvPr id="7" name="Text 5"/>
          <p:cNvSpPr/>
          <p:nvPr/>
        </p:nvSpPr>
        <p:spPr>
          <a:xfrm>
            <a:off x="530352" y="1051560"/>
            <a:ext cx="594360" cy="457200"/>
          </a:xfrm>
          <a:prstGeom prst="rect">
            <a:avLst/>
          </a:prstGeom>
          <a:noFill/>
          <a:ln/>
        </p:spPr>
        <p:txBody>
          <a:bodyPr wrap="square" lIns="0" tIns="0" rIns="0" bIns="0" rtlCol="0" anchor="ctr"/>
          <a:lstStyle/>
          <a:p>
            <a:pPr marL="0" indent="0" algn="ctr">
              <a:buNone/>
            </a:pPr>
            <a:r>
              <a:rPr lang="en-US" sz="2400" b="1" dirty="0">
                <a:solidFill>
                  <a:srgbClr val="00B4D8"/>
                </a:solidFill>
                <a:latin typeface="Calibri" pitchFamily="34" charset="0"/>
                <a:ea typeface="Calibri" pitchFamily="34" charset="-122"/>
                <a:cs typeface="Calibri" pitchFamily="34" charset="-120"/>
              </a:rPr>
              <a:t>01</a:t>
            </a:r>
            <a:endParaRPr lang="en-US" sz="2400" dirty="0"/>
          </a:p>
        </p:txBody>
      </p:sp>
      <p:sp>
        <p:nvSpPr>
          <p:cNvPr id="8" name="Text 6"/>
          <p:cNvSpPr/>
          <p:nvPr/>
        </p:nvSpPr>
        <p:spPr>
          <a:xfrm>
            <a:off x="1234440" y="1097280"/>
            <a:ext cx="7452360"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Fine-tuning </a:t>
            </a:r>
            <a:r>
              <a:rPr lang="en-US" sz="1600" b="1" dirty="0" err="1">
                <a:solidFill>
                  <a:srgbClr val="FFFFFF"/>
                </a:solidFill>
                <a:latin typeface="Calibri" pitchFamily="34" charset="0"/>
                <a:ea typeface="Calibri" pitchFamily="34" charset="-122"/>
                <a:cs typeface="Calibri" pitchFamily="34" charset="-120"/>
              </a:rPr>
              <a:t>Badrex</a:t>
            </a:r>
            <a:r>
              <a:rPr lang="en-US" sz="1600" b="1" dirty="0">
                <a:solidFill>
                  <a:srgbClr val="FFFFFF"/>
                </a:solidFill>
                <a:latin typeface="Calibri" pitchFamily="34" charset="0"/>
                <a:ea typeface="Calibri" pitchFamily="34" charset="-122"/>
                <a:cs typeface="Calibri" pitchFamily="34" charset="-120"/>
              </a:rPr>
              <a:t> model</a:t>
            </a:r>
            <a:endParaRPr lang="en-US" sz="1600" dirty="0"/>
          </a:p>
        </p:txBody>
      </p:sp>
      <p:sp>
        <p:nvSpPr>
          <p:cNvPr id="9" name="Text 7"/>
          <p:cNvSpPr/>
          <p:nvPr/>
        </p:nvSpPr>
        <p:spPr>
          <a:xfrm>
            <a:off x="1234440" y="1554480"/>
            <a:ext cx="7452360" cy="548640"/>
          </a:xfrm>
          <a:prstGeom prst="rect">
            <a:avLst/>
          </a:prstGeom>
          <a:noFill/>
          <a:ln/>
        </p:spPr>
        <p:txBody>
          <a:bodyPr wrap="square" lIns="0" tIns="0" rIns="0" bIns="0" rtlCol="0" anchor="ctr"/>
          <a:lstStyle/>
          <a:p>
            <a:pPr marL="0" indent="0">
              <a:buNone/>
            </a:pPr>
            <a:r>
              <a:rPr lang="en-US" sz="1300" dirty="0">
                <a:solidFill>
                  <a:srgbClr val="8899AA"/>
                </a:solidFill>
                <a:latin typeface="Calibri" pitchFamily="34" charset="0"/>
                <a:ea typeface="Calibri" pitchFamily="34" charset="-122"/>
                <a:cs typeface="Calibri" pitchFamily="34" charset="-120"/>
              </a:rPr>
              <a:t>Based on our analysis, we selected </a:t>
            </a:r>
            <a:r>
              <a:rPr lang="en-US" sz="1300" dirty="0" err="1">
                <a:solidFill>
                  <a:srgbClr val="8899AA"/>
                </a:solidFill>
                <a:latin typeface="Calibri" pitchFamily="34" charset="0"/>
                <a:ea typeface="Calibri" pitchFamily="34" charset="-122"/>
                <a:cs typeface="Calibri" pitchFamily="34" charset="-120"/>
              </a:rPr>
              <a:t>Badrex</a:t>
            </a:r>
            <a:r>
              <a:rPr lang="en-US" sz="1300" dirty="0">
                <a:solidFill>
                  <a:srgbClr val="8899AA"/>
                </a:solidFill>
                <a:latin typeface="Calibri" pitchFamily="34" charset="0"/>
                <a:ea typeface="Calibri" pitchFamily="34" charset="-122"/>
                <a:cs typeface="Calibri" pitchFamily="34" charset="-120"/>
              </a:rPr>
              <a:t> model as the most suitable candidate for fine-tuning. We are currently training it on our 10,000 sentence dataset, along with additional data we are actively collecting.</a:t>
            </a:r>
            <a:endParaRPr lang="en-US" sz="1300" dirty="0"/>
          </a:p>
        </p:txBody>
      </p:sp>
      <p:sp>
        <p:nvSpPr>
          <p:cNvPr id="10" name="Shape 8"/>
          <p:cNvSpPr/>
          <p:nvPr/>
        </p:nvSpPr>
        <p:spPr>
          <a:xfrm>
            <a:off x="320040" y="2377440"/>
            <a:ext cx="8503920" cy="1188720"/>
          </a:xfrm>
          <a:prstGeom prst="rect">
            <a:avLst/>
          </a:prstGeom>
          <a:solidFill>
            <a:srgbClr val="0F2040"/>
          </a:solidFill>
          <a:ln/>
          <a:effectLst>
            <a:outerShdw blurRad="101600" dist="25400" dir="8100000" algn="bl" rotWithShape="0">
              <a:srgbClr val="000000">
                <a:alpha val="18000"/>
              </a:srgbClr>
            </a:outerShdw>
          </a:effectLst>
        </p:spPr>
        <p:txBody>
          <a:bodyPr/>
          <a:lstStyle/>
          <a:p>
            <a:endParaRPr lang="en-US" dirty="0"/>
          </a:p>
        </p:txBody>
      </p:sp>
      <p:sp>
        <p:nvSpPr>
          <p:cNvPr id="11" name="Shape 9"/>
          <p:cNvSpPr/>
          <p:nvPr/>
        </p:nvSpPr>
        <p:spPr>
          <a:xfrm>
            <a:off x="320040" y="2377440"/>
            <a:ext cx="109728" cy="1188720"/>
          </a:xfrm>
          <a:prstGeom prst="rect">
            <a:avLst/>
          </a:prstGeom>
          <a:solidFill>
            <a:srgbClr val="FF6B35"/>
          </a:solidFill>
          <a:ln w="12700">
            <a:solidFill>
              <a:srgbClr val="FF6B35"/>
            </a:solidFill>
            <a:prstDash val="solid"/>
          </a:ln>
        </p:spPr>
      </p:sp>
      <p:sp>
        <p:nvSpPr>
          <p:cNvPr id="12" name="Text 10"/>
          <p:cNvSpPr/>
          <p:nvPr/>
        </p:nvSpPr>
        <p:spPr>
          <a:xfrm>
            <a:off x="530352" y="2423160"/>
            <a:ext cx="594360" cy="457200"/>
          </a:xfrm>
          <a:prstGeom prst="rect">
            <a:avLst/>
          </a:prstGeom>
          <a:noFill/>
          <a:ln/>
        </p:spPr>
        <p:txBody>
          <a:bodyPr wrap="square" lIns="0" tIns="0" rIns="0" bIns="0" rtlCol="0" anchor="ctr"/>
          <a:lstStyle/>
          <a:p>
            <a:pPr marL="0" indent="0" algn="ctr">
              <a:buNone/>
            </a:pPr>
            <a:r>
              <a:rPr lang="en-US" sz="2400" b="1" dirty="0">
                <a:solidFill>
                  <a:srgbClr val="FF6B35"/>
                </a:solidFill>
                <a:latin typeface="Calibri" pitchFamily="34" charset="0"/>
                <a:ea typeface="Calibri" pitchFamily="34" charset="-122"/>
                <a:cs typeface="Calibri" pitchFamily="34" charset="-120"/>
              </a:rPr>
              <a:t>02</a:t>
            </a:r>
            <a:endParaRPr lang="en-US" sz="2400" dirty="0"/>
          </a:p>
        </p:txBody>
      </p:sp>
      <p:sp>
        <p:nvSpPr>
          <p:cNvPr id="13" name="Text 11"/>
          <p:cNvSpPr/>
          <p:nvPr/>
        </p:nvSpPr>
        <p:spPr>
          <a:xfrm>
            <a:off x="1234440" y="2468880"/>
            <a:ext cx="7452360"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Expanding the dataset</a:t>
            </a:r>
            <a:endParaRPr lang="en-US" sz="1600" dirty="0"/>
          </a:p>
        </p:txBody>
      </p:sp>
      <p:sp>
        <p:nvSpPr>
          <p:cNvPr id="14" name="Text 12"/>
          <p:cNvSpPr/>
          <p:nvPr/>
        </p:nvSpPr>
        <p:spPr>
          <a:xfrm>
            <a:off x="1234440" y="2926080"/>
            <a:ext cx="7452360" cy="548640"/>
          </a:xfrm>
          <a:prstGeom prst="rect">
            <a:avLst/>
          </a:prstGeom>
          <a:noFill/>
          <a:ln/>
        </p:spPr>
        <p:txBody>
          <a:bodyPr wrap="square" lIns="0" tIns="0" rIns="0" bIns="0" rtlCol="0" anchor="ctr"/>
          <a:lstStyle/>
          <a:p>
            <a:pPr marL="0" indent="0">
              <a:buNone/>
            </a:pPr>
            <a:r>
              <a:rPr lang="en-US" sz="1300" dirty="0">
                <a:solidFill>
                  <a:srgbClr val="8899AA"/>
                </a:solidFill>
                <a:latin typeface="Calibri" pitchFamily="34" charset="0"/>
                <a:ea typeface="Calibri" pitchFamily="34" charset="-122"/>
                <a:cs typeface="Calibri" pitchFamily="34" charset="-120"/>
              </a:rPr>
              <a:t>Scaling to 3,000+ recordings with per-condition. </a:t>
            </a:r>
            <a:endParaRPr lang="en-US" sz="1300" dirty="0"/>
          </a:p>
        </p:txBody>
      </p:sp>
      <p:sp>
        <p:nvSpPr>
          <p:cNvPr id="17" name="Text 15"/>
          <p:cNvSpPr/>
          <p:nvPr/>
        </p:nvSpPr>
        <p:spPr>
          <a:xfrm>
            <a:off x="530352" y="3794760"/>
            <a:ext cx="594360" cy="457200"/>
          </a:xfrm>
          <a:prstGeom prst="rect">
            <a:avLst/>
          </a:prstGeom>
          <a:noFill/>
          <a:ln/>
        </p:spPr>
        <p:txBody>
          <a:bodyPr wrap="square" lIns="0" tIns="0" rIns="0" bIns="0" rtlCol="0" anchor="ctr"/>
          <a:lstStyle/>
          <a:p>
            <a:pPr marL="0" indent="0" algn="ctr">
              <a:buNone/>
            </a:pPr>
            <a:endParaRPr lang="en-US" sz="2400" dirty="0"/>
          </a:p>
        </p:txBody>
      </p:sp>
      <p:sp>
        <p:nvSpPr>
          <p:cNvPr id="20" name="Shape 18"/>
          <p:cNvSpPr/>
          <p:nvPr/>
        </p:nvSpPr>
        <p:spPr>
          <a:xfrm>
            <a:off x="429768" y="3909060"/>
            <a:ext cx="8503920" cy="457200"/>
          </a:xfrm>
          <a:prstGeom prst="rect">
            <a:avLst/>
          </a:prstGeom>
          <a:solidFill>
            <a:srgbClr val="0A2A0A"/>
          </a:solidFill>
          <a:ln/>
          <a:effectLst>
            <a:outerShdw blurRad="101600" dist="25400" dir="8100000" algn="bl" rotWithShape="0">
              <a:srgbClr val="000000">
                <a:alpha val="18000"/>
              </a:srgbClr>
            </a:outerShdw>
          </a:effectLst>
        </p:spPr>
        <p:txBody>
          <a:bodyPr/>
          <a:lstStyle/>
          <a:p>
            <a:r>
              <a:rPr lang="en-US" sz="1800" b="1" dirty="0">
                <a:solidFill>
                  <a:schemeClr val="bg2"/>
                </a:solidFill>
                <a:latin typeface="Calibri" pitchFamily="34" charset="0"/>
                <a:ea typeface="Calibri" pitchFamily="34" charset="-122"/>
                <a:cs typeface="Calibri" pitchFamily="34" charset="-120"/>
              </a:rPr>
              <a:t> We have shared our dataset with the  MIT AI team to support future research</a:t>
            </a:r>
            <a:endParaRPr lang="en-US" sz="1800" dirty="0">
              <a:solidFill>
                <a:schemeClr val="bg2"/>
              </a:solidFill>
            </a:endParaRPr>
          </a:p>
          <a:p>
            <a:endParaRPr lang="en-US" dirty="0"/>
          </a:p>
        </p:txBody>
      </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0F204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Shape 1"/>
          <p:cNvSpPr/>
          <p:nvPr/>
        </p:nvSpPr>
        <p:spPr>
          <a:xfrm>
            <a:off x="0" y="5070348"/>
            <a:ext cx="9144000" cy="73152"/>
          </a:xfrm>
          <a:prstGeom prst="rect">
            <a:avLst/>
          </a:prstGeom>
          <a:solidFill>
            <a:srgbClr val="00B4D8"/>
          </a:solidFill>
          <a:ln w="12700">
            <a:solidFill>
              <a:srgbClr val="00B4D8"/>
            </a:solidFill>
            <a:prstDash val="solid"/>
          </a:ln>
        </p:spPr>
      </p:sp>
      <p:sp>
        <p:nvSpPr>
          <p:cNvPr id="4" name="Text 2"/>
          <p:cNvSpPr/>
          <p:nvPr/>
        </p:nvSpPr>
        <p:spPr>
          <a:xfrm rot="20171504">
            <a:off x="236220" y="1424940"/>
            <a:ext cx="8229600" cy="822960"/>
          </a:xfrm>
          <a:prstGeom prst="rect">
            <a:avLst/>
          </a:prstGeom>
          <a:noFill/>
          <a:ln/>
        </p:spPr>
        <p:txBody>
          <a:bodyPr wrap="square" lIns="0" tIns="0" rIns="0" bIns="0" rtlCol="0" anchor="ctr"/>
          <a:lstStyle/>
          <a:p>
            <a:pPr marL="0" indent="0" algn="ctr">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5" name="Text 3"/>
          <p:cNvSpPr/>
          <p:nvPr/>
        </p:nvSpPr>
        <p:spPr>
          <a:xfrm>
            <a:off x="563880" y="2805684"/>
            <a:ext cx="8229600" cy="1331976"/>
          </a:xfrm>
          <a:prstGeom prst="rect">
            <a:avLst/>
          </a:prstGeom>
          <a:noFill/>
          <a:ln/>
        </p:spPr>
        <p:txBody>
          <a:bodyPr wrap="square" lIns="0" tIns="0" rIns="0" bIns="0" rtlCol="0" anchor="ctr"/>
          <a:lstStyle/>
          <a:p>
            <a:pPr marL="0" indent="0" algn="ctr">
              <a:buNone/>
            </a:pPr>
            <a:r>
              <a:rPr lang="en-US" sz="2200" dirty="0">
                <a:solidFill>
                  <a:srgbClr val="00B4D8"/>
                </a:solidFill>
                <a:latin typeface="Calibri" pitchFamily="34" charset="0"/>
                <a:ea typeface="Calibri" pitchFamily="34" charset="-122"/>
                <a:cs typeface="Calibri" pitchFamily="34" charset="-120"/>
              </a:rPr>
              <a:t>Questions &amp; Discussion</a:t>
            </a:r>
            <a:endParaRPr lang="en-US" sz="22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1025</TotalTime>
  <Words>1637</Words>
  <Application>Microsoft Office PowerPoint</Application>
  <PresentationFormat>On-screen Show (16:9)</PresentationFormat>
  <Paragraphs>174</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ASR Evaluation for Tigrinya – AI4SD 2026</dc:title>
  <dc:subject>PptxGenJS Presentation</dc:subject>
  <dc:creator>PptxGenJS</dc:creator>
  <cp:lastModifiedBy>Wele Teklay</cp:lastModifiedBy>
  <cp:revision>12</cp:revision>
  <dcterms:created xsi:type="dcterms:W3CDTF">2026-04-25T10:59:36Z</dcterms:created>
  <dcterms:modified xsi:type="dcterms:W3CDTF">2026-04-26T20:57:38Z</dcterms:modified>
</cp:coreProperties>
</file>